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a92a80a-5589-9e37-2cf2-c59d3b289102}">
          <p14:sldIdLst>
            <p14:sldId id="258"/>
            <p14:sldId id="259"/>
            <p14:sldId id="260"/>
          </p14:sldIdLst>
        </p14:section>
        <p14:section name="Ontology design" id="{e318fadd-51dd-ed6b-c2dd-b4d1c72fa84c}">
          <p14:sldIdLst>
            <p14:sldId id="261"/>
            <p14:sldId id="262"/>
            <p14:sldId id="263"/>
            <p14:sldId id="264"/>
            <p14:sldId id="265"/>
            <p14:sldId id="266"/>
            <p14:sldId id="267"/>
          </p14:sldIdLst>
        </p14:section>
        <p14:section name="Extraction &amp; reasoning" id="{d5a8a3fd-7ac4-bb65-81bb-f8e7d1c86dc4}">
          <p14:sldIdLst>
            <p14:sldId id="268"/>
            <p14:sldId id="269"/>
            <p14:sldId id="270"/>
            <p14:sldId id="271"/>
            <p14:sldId id="272"/>
          </p14:sldIdLst>
        </p14:section>
        <p14:section name="Linking &amp; endpoint" id="{0019fe51-08e0-b484-6aac-afc733cf9dbc}">
          <p14:sldIdLst>
            <p14:sldId id="273"/>
            <p14:sldId id="274"/>
            <p14:sldId id="275"/>
            <p14:sldId id="276"/>
          </p14:sldIdLst>
        </p14:section>
        <p14:section name="Evaluation &amp; conclusion" id="{e2d61888-9d30-cd8c-6285-049fe77fd675}">
          <p14:sldIdLst>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mn-lt"/>
              </a:defRPr>
            </a:pPr>
            <a:r>
              <a:rPr sz="1300" b="0" i="0" u="none" strike="noStrike">
                <a:solidFill>
                  <a:srgbClr val="222222"/>
                </a:solidFill>
                <a:latin typeface="+mn-lt"/>
              </a:rPr>
              <a:t>Inferred triples by mechanism (thousands)</a:t>
            </a:r>
          </a:p>
        </c:rich>
      </c:tx>
      <c:layout/>
      <c:overlay val="0"/>
    </c:title>
    <c:autoTitleDeleted val="0"/>
    <c:plotArea>
      <c:layout/>
      <c:barChart>
        <c:barDir val="bar"/>
        <c:grouping val="clustered"/>
        <c:varyColors val="0"/>
        <c:ser>
          <c:idx val="0"/>
          <c:order val="0"/>
          <c:tx>
            <c:strRef>
              <c:f>Sheet1!$B$1</c:f>
              <c:strCache>
                <c:ptCount val="1"/>
                <c:pt idx="0">
                  <c:v>inferred (k)</c:v>
                </c:pt>
              </c:strCache>
            </c:strRef>
          </c:tx>
          <c:spPr>
            <a:solidFill>
              <a:srgbClr val="C02034"/>
            </a:solidFill>
            <a:effectLst/>
          </c:spPr>
          <c:invertIfNegative val="0"/>
          <c:dLbls>
            <c:numFmt formatCode="#,##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cat>
            <c:multiLvlStrRef>
              <c:f>Sheet1!$A$2:$A$7</c:f>
              <c:multiLvlStrCache>
                <c:ptCount val="6"/>
                <c:lvl>
                  <c:pt idx="0">
                    <c:v>Inverse / sub-property</c:v>
                  </c:pt>
                  <c:pt idx="1">
                    <c:v>SPARQL rules</c:v>
                  </c:pt>
                  <c:pt idx="2">
                    <c:v>Property chains</c:v>
                  </c:pt>
                  <c:pt idx="3">
                    <c:v>Class membership</c:v>
                  </c:pt>
                  <c:pt idx="4">
                    <c:v>Alignment (dbo, FOAF)</c:v>
                  </c:pt>
                  <c:pt idx="5">
                    <c:v>Transitive closure</c:v>
                  </c:pt>
                </c:lvl>
              </c:multiLvlStrCache>
            </c:multiLvlStrRef>
          </c:cat>
          <c:val>
            <c:numRef>
              <c:f>Sheet1!$B$2:$B$7</c:f>
              <c:numCache>
                <c:formatCode>General</c:formatCode>
                <c:ptCount val="6"/>
                <c:pt idx="0">
                  <c:v>91</c:v>
                </c:pt>
                <c:pt idx="1">
                  <c:v>94</c:v>
                </c:pt>
                <c:pt idx="2">
                  <c:v>230</c:v>
                </c:pt>
                <c:pt idx="3">
                  <c:v>276</c:v>
                </c:pt>
                <c:pt idx="4">
                  <c:v>626</c:v>
                </c:pt>
                <c:pt idx="5">
                  <c:v>1318</c:v>
                </c:pt>
              </c:numCache>
            </c:numRef>
          </c:val>
        </c:ser>
        <c:dLbls>
          <c:numFmt formatCode="#,##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mn-lt"/>
              </a:defRPr>
            </a:pPr>
            <a:r>
              <a:rPr sz="1300" b="0" i="0" u="none" strike="noStrike">
                <a:solidFill>
                  <a:srgbClr val="222222"/>
                </a:solidFill>
                <a:latin typeface="+mn-lt"/>
              </a:rPr>
              <a:t>Entities linked to DBpedia, by class (%)</a:t>
            </a:r>
          </a:p>
        </c:rich>
      </c:tx>
      <c:layout/>
      <c:overlay val="0"/>
    </c:title>
    <c:autoTitleDeleted val="0"/>
    <c:plotArea>
      <c:layout/>
      <c:barChart>
        <c:barDir val="col"/>
        <c:grouping val="clustered"/>
        <c:varyColors val="0"/>
        <c:ser>
          <c:idx val="0"/>
          <c:order val="0"/>
          <c:tx>
            <c:strRef>
              <c:f>Sheet1!$B$1</c:f>
              <c:strCache>
                <c:ptCount val="1"/>
                <c:pt idx="0">
                  <c:v>linked (%)</c:v>
                </c:pt>
              </c:strCache>
            </c:strRef>
          </c:tx>
          <c:spPr>
            <a:solidFill>
              <a:srgbClr val="C02034"/>
            </a:solidFill>
            <a:effectLst/>
          </c:spPr>
          <c:invertIfNegative val="0"/>
          <c:dLbls>
            <c:numFmt formatCode="#,##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cat>
            <c:multiLvlStrRef>
              <c:f>Sheet1!$A$2:$A$7</c:f>
              <c:multiLvlStrCache>
                <c:ptCount val="6"/>
                <c:lvl>
                  <c:pt idx="0">
                    <c:v>Person</c:v>
                  </c:pt>
                  <c:pt idx="1">
                    <c:v>Admin. unit</c:v>
                  </c:pt>
                  <c:pt idx="2">
                    <c:v>Conflict</c:v>
                  </c:pt>
                  <c:pt idx="3">
                    <c:v>Monarch</c:v>
                  </c:pt>
                  <c:pt idx="4">
                    <c:v>Writer</c:v>
                  </c:pt>
                  <c:pt idx="5">
                    <c:v>State</c:v>
                  </c:pt>
                </c:lvl>
              </c:multiLvlStrCache>
            </c:multiLvlStrRef>
          </c:cat>
          <c:val>
            <c:numRef>
              <c:f>Sheet1!$B$2:$B$7</c:f>
              <c:numCache>
                <c:formatCode>General</c:formatCode>
                <c:ptCount val="6"/>
                <c:pt idx="0">
                  <c:v>38</c:v>
                </c:pt>
                <c:pt idx="1">
                  <c:v>35</c:v>
                </c:pt>
                <c:pt idx="2">
                  <c:v>53</c:v>
                </c:pt>
                <c:pt idx="3">
                  <c:v>84</c:v>
                </c:pt>
                <c:pt idx="4">
                  <c:v>69</c:v>
                </c:pt>
                <c:pt idx="5">
                  <c:v>88</c:v>
                </c:pt>
              </c:numCache>
            </c:numRef>
          </c:val>
        </c:ser>
        <c:dLbls>
          <c:numFmt formatCode="#,##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Chào thầy và các bạn. Nhóm em gồm Hải, Mai Anh, Tài và Luận, trình bày đề tài 2: xây dựng DBpedia tiếng Việt. Phần nhóm em đầu tư nhiều nhất là ontology, để máy tự suy ra được những điều Wikipedia không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Bài gồm 5 phần, đi theo đúng 5 yêu cầu của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Phần 1: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Wikipedia tiếng Việt có 1,6 triệu bài nhưng dữ kiện nằm trong infobox dạng wiki-text, máy không hỏi được. DBpedia tiếng Anh lại có rất ít về triều đại, quan lại, trận đánh của Việt Nam, và không có gì về đợt sáp nhập tỉnh 2025. Bảng bên phải là ba câu hỏi mà không bài nào trả lời trực tiếp: muốn trả lời phải ghép thông tin từ nhiều bài. Mục tiêu của nhóm là để máy tự ghép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Đây là cách nhóm đáp ứng từng yêu cầu của đề, kèm quy mô. Thầy nhấn mạnh yêu cầu 1: ontology phải suy diễn ra được nhiều hơn những gì trích xuất. Con số cuối cùng trả lời điều đó: 1,51 triệu triple trích xuất, suy diễn thêm 2,64 triệu.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(Hải chuyển lượt: “Phần quan trọng nhất là ontology, xin mời Mai Anh.”) Phần 2: thiết kế ontology vidbo.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Nhóm làm theo Grüninger &amp; Fox như trên lớp: viết 18 câu hỏi năng lực trước, mỗi câu thành một truy vấn SPARQL, rồi thêm tiên đề đến khi cả 18 câu đều có kết quả. Bảng là bốn ví dụ: mỗi câu hỏi kéo theo một loại tiên đề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Năm lớp gốc Agent, Place, Event, Work, Tenure, ánh xạ sang DBpedia, FOAF, schema.org. Lớp chữ đỏ là lớp định nghĩa: không ai gán tay, reasoner tự xếp thực thể vào. Dòng dưới cùng là các tiên đề rời nhau, dùng để phát hiện lỗi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Theo OntoClean, vua, tướng, quan là vai trò một người giữ trong một thời gian, không phải bản chất. Vì vậy nhóm không gán lớp Monarch, mà định nghĩa: người có ít nhất một thời kỳ trị vì. Cột phải là số thực thể reasoner tự xếp vào lớp trên dữ liệu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Các tiên đề thuộc tính tạo ra quan hệ mới. Cột giữa là ví dụ thật trên dữ liệu. Ví dụ dòng 4: infobox trận Bạch Đằng 1288 chỉ ghi Trần Nhân Tông chỉ huy trận đó; nhờ chain, máy suy ra ông tham gia cả cuộc kháng chiến chống Nguyên Mông. Dòng dưới là quy mô trên toàn bộ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Bên trái: một lần trị vì có nhiều thành phần (người, tước hiệu, triều đại, ngày bắt đầu, ngày kết thúc) nên nhóm tách thành một nút Reign, theo mẫu quan hệ n-ngôi của W3C. Đoạn Turtle là dữ liệu thật. Bên phải: tri thức về cải cách hành chính 2025, cấp huyện bị bỏ nên thành đơn vị lịch sử.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Anh]  Màu xám là dữ kiện có trong infobox, màu đỏ là do ontology suy ra: ông nội, thuộc nhà Trần, tham gia cả cuộc kháng chiến, và bốn lớp. Khung đen là output thật khi chạy HermiT trên tập mẫu nhà Trần: đúng các suy diễn đó, không có lớp nào rỗng. Trên dữ liệu thật, ông có 53 triple trích xuất và 158 triple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(Mai Anh chuyển lượt: “Ontology cần dữ liệu, mời Hải trình bày cách nhóm lấy dữ liệu và suy diễn.”) Phần 3: trích xuất và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Pipeline đi giống DBpedia Extraction Framework: dump, lọc bài, ánh xạ infobox, suy diễn, liên kết, nạp vào Fuseki. Ontology được dùng ở hai chỗ: khi trích xuất (kiểm tra kiểu của đối tượng) và khi suy diễn. Cả pipeline chạy lại bằng một lệnh, khoảng 1,5 giờ trên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Bên trái là wiki-text thật của infobox Trần Nhân Tông trong bản dump, bên phải là Turtle mà extract.py sinh ra (rút gọn). Chú ý: ngày “8 tháng 11 năm 1278” thành xsd:date, trường “tại vị” thành một nút Reign. Nhóm dùng dump chứ không gọi API vì API chỉ cho khoảng 50 trang mỗi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Các reasoner Python có sẵn quá chậm với 1,5 triệu triple, nên nhóm viết bộ suy diễn tiến theo luật OWL 2 RL. Nó đọc tiên đề từ file ontology, nên sửa ontology là kết quả đổi theo, không phải sửa code. Biểu đồ: phần lớn là bắc cầu, nhưng phần có giá trị nhất là xếp lớp và property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[Hải]  Tiên đề không chỉ suy diễn mà còn bắt lỗi. Các dòng là lỗi thật trong Wikipedia tiếng Việt, ví dụ Anna Freud ghi sinh 1985, mất 1982. Dòng cuối là lỗi của chính nhóm: tiên đề Person rời Tenure báo 17.841 vi phạm, lần ra thì do YAML đọc khóa “on:” thành giá trị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(Hải chuyển lượt: “Dữ liệu đã có và đã suy diễn; bước tiếp theo là nối nó với DBpedia tiếng Anh, mời Tài.”) Phần 4: liên kết và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Giai đoạn 1 dùng liên kết liên ngôn ngữ của Wikipedia, nhưng nhóm kiểm tra từng URI trên DBpedia vì có bài tiếng Anh mới hơn bản DBpedia. Giai đoạn 2 cho thực thể không có liên kết: so khớp nhãn, kiểu và năm giống Silk. Đánh giá trên 1.500 cặp đã biết đáp án: độ chính xác 96,4%, độ phủ 48,5%. Bảng dưới là hai lỗi thật của bộ so khớp; nhóm cố ý ưu tiên độ chính xác vì một owl:sameAs sai sẽ kéo theo mọi dữ kiện của thực thể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Dữ liệu nằm trong Fuseki với bốn named graph: ontology, dữ liệu, suy diễn, liên kết. Trang tài nguyên gắn nhãn cho từng dòng: dữ liệu trích xuất, suy diễn hay liên kết. Cùng một URI, trình duyệt nhận HTML còn chương trình nhận Turtle: đó là nguyên tắc Linked Data. Ngoài web còn có công cụ dòng lệnh.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Đối chiếu thang 5 sao của Tim Berners-Lee. Đề yêu cầu 4 sao cho dữ liệu và liên kết DBpedia, tức sao thứ 5. Sao thứ 4 nằm ở chỗ URI tra được; sao thứ 5 là owl:sameAs sang DBpedia và Wikidata.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(Tài chuyển lượt: “Vậy hệ thống trả lời được những câu hỏi ban đầu không? Mời Luận.”) Phần 5: đánh giá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Cả 18 câu hỏi năng lực đều có kết quả, thời gian trung vị 44 ms. Cột cơ chế cho thấy câu nào cũng cần ít nhất một suy diễn. Bên phải là truy vấn CQ8 thật: câu truy vấn chỉ hỏi theo tỉnh, vì reasoner đã đưa nơi sinh cấp xã, huyện lên tỉnh qua bornWithin; kết quả 264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Đây là những lỗi thật trong quá trình làm. Điểm chung: phần lớn chỉ lộ ra sau khi chạy suy diễn, vì một tiên đề sai sẽ bị nhân lên hàng triệu lần. Bài học của nhóm: domain, range và tính bắc cầu không chỉ là mô tả, mà là luật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Tóm lại ba ý: dữ liệu, ontology và chuẩn Linked Data. Bên phải là những gì nhóm chưa làm được và hướng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Phân công trong nhóm: mỗi người làm phần code tương ứng và trình bày phần slide đó. Bốn thành viên đóng góp như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Cảm ơn thầy và các bạn đã lắng nghe. Nếu thầy cho phép, nhóm em xin demo nhanh 5 phút, Mai Anh trình bày: trang Trần Nhân Tông (infobox → RDF), Protégé + HermiT, SPARQL CQ2, CQ5, CQ13.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VIDB_SECTION-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VIDB_THANKS-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DB_TITLE">
    <p:bg>
      <p:bgPr>
        <a:solidFill>
          <a:srgbClr val="FFFFFF"/>
        </a:solidFill>
      </p:bgPr>
    </p:bg>
    <p:spTree>
      <p:nvGrpSpPr>
        <p:cNvPr id="1" name=""/>
        <p:cNvGrpSpPr/>
        <p:nvPr/>
      </p:nvGrpSpPr>
      <p:grpSpPr>
        <a:xfrm>
          <a:off x="0" y="0"/>
          <a:ext cx="0" cy="0"/>
          <a:chOff x="0" y="0"/>
          <a:chExt cx="0" cy="0"/>
        </a:xfrm>
      </p:grpSpPr>
      <p:pic>
        <p:nvPicPr>
          <p:cNvPr id="2" name="Image 0" descr="decorative dots">    </p:cNvPr>
          <p:cNvPicPr>
            <a:picLocks noChangeAspect="1"/>
          </p:cNvPicPr>
          <p:nvPr/>
        </p:nvPicPr>
        <p:blipFill>
          <a:blip r:embed="rId1">
            <a:alphaModFix amt="55000"/>
          </a:blip>
          <a:stretch>
            <a:fillRect/>
          </a:stretch>
        </p:blipFill>
        <p:spPr>
          <a:xfrm>
            <a:off x="9784080" y="-457200"/>
            <a:ext cx="2926080" cy="2596896"/>
          </a:xfrm>
          <a:prstGeom prst="rect">
            <a:avLst/>
          </a:prstGeom>
        </p:spPr>
      </p:pic>
      <p:pic>
        <p:nvPicPr>
          <p:cNvPr id="3" name="Image 1" descr="Hanoi University of Science and Technology logo">    </p:cNvPr>
          <p:cNvPicPr>
            <a:picLocks noChangeAspect="1"/>
          </p:cNvPicPr>
          <p:nvPr/>
        </p:nvPicPr>
        <p:blipFill>
          <a:blip r:embed="rId2"/>
          <a:stretch>
            <a:fillRect/>
          </a:stretch>
        </p:blipFill>
        <p:spPr>
          <a:xfrm>
            <a:off x="548640" y="457200"/>
            <a:ext cx="3200400" cy="1161288"/>
          </a:xfrm>
          <a:prstGeom prst="rect">
            <a:avLst/>
          </a:prstGeom>
        </p:spPr>
      </p:pic>
      <p:pic>
        <p:nvPicPr>
          <p:cNvPr id="4" name="Image 2" descr="SoICT logo">    </p:cNvPr>
          <p:cNvPicPr>
            <a:picLocks noChangeAspect="1"/>
          </p:cNvPicPr>
          <p:nvPr/>
        </p:nvPicPr>
        <p:blipFill>
          <a:blip r:embed="rId3"/>
          <a:stretch>
            <a:fillRect/>
          </a:stretch>
        </p:blipFill>
        <p:spPr>
          <a:xfrm>
            <a:off x="10241280" y="5989320"/>
            <a:ext cx="1417320" cy="576072"/>
          </a:xfrm>
          <a:prstGeom prst="rect">
            <a:avLst/>
          </a:prstGeom>
        </p:spPr>
      </p:pic>
      <p:pic>
        <p:nvPicPr>
          <p:cNvPr id="5" name="Image 3" descr="SoICT logo">    </p:cNvPr>
          <p:cNvPicPr>
            <a:picLocks noChangeAspect="1"/>
          </p:cNvPicPr>
          <p:nvPr/>
        </p:nvPicPr>
        <p:blipFill>
          <a:blip r:embed="rId4"/>
          <a:stretch>
            <a:fillRect/>
          </a:stretch>
        </p:blipFill>
        <p:spPr>
          <a:xfrm>
            <a:off x="502920" y="6400800"/>
            <a:ext cx="914400" cy="374904"/>
          </a:xfrm>
          <a:prstGeom prst="rect">
            <a:avLst/>
          </a:prstGeom>
        </p:spPr>
      </p:pic>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DB_CONTENT">
    <p:bg>
      <p:bgPr>
        <a:solidFill>
          <a:srgbClr val="FFFFFF"/>
        </a:solidFill>
      </p:bgPr>
    </p:bg>
    <p:spTree>
      <p:nvGrpSpPr>
        <p:cNvPr id="1" name=""/>
        <p:cNvGrpSpPr/>
        <p:nvPr/>
      </p:nvGrpSpPr>
      <p:grpSpPr>
        <a:xfrm>
          <a:off x="0" y="0"/>
          <a:ext cx="0" cy="0"/>
          <a:chOff x="0" y="0"/>
          <a:chExt cx="0" cy="0"/>
        </a:xfrm>
      </p:grpSpPr>
      <p:pic>
        <p:nvPicPr>
          <p:cNvPr id="2" name="Image 0" descr="decorative dots">    </p:cNvPr>
          <p:cNvPicPr>
            <a:picLocks noChangeAspect="1"/>
          </p:cNvPicPr>
          <p:nvPr/>
        </p:nvPicPr>
        <p:blipFill>
          <a:blip r:embed="rId1">
            <a:alphaModFix amt="38000"/>
          </a:blip>
          <a:stretch>
            <a:fillRect/>
          </a:stretch>
        </p:blipFill>
        <p:spPr>
          <a:xfrm>
            <a:off x="10515600" y="-384048"/>
            <a:ext cx="2103120" cy="1865376"/>
          </a:xfrm>
          <a:prstGeom prst="rect">
            <a:avLst/>
          </a:prstGeom>
        </p:spPr>
      </p:pic>
      <p:pic>
        <p:nvPicPr>
          <p:cNvPr id="3" name="Image 1" descr="SoICT logo">    </p:cNvPr>
          <p:cNvPicPr>
            <a:picLocks noChangeAspect="1"/>
          </p:cNvPicPr>
          <p:nvPr/>
        </p:nvPicPr>
        <p:blipFill>
          <a:blip r:embed="rId2"/>
          <a:stretch>
            <a:fillRect/>
          </a:stretch>
        </p:blipFill>
        <p:spPr>
          <a:xfrm>
            <a:off x="502920" y="6400800"/>
            <a:ext cx="914400" cy="374904"/>
          </a:xfrm>
          <a:prstGeom prst="rect">
            <a:avLst/>
          </a:prstGeom>
        </p:spPr>
      </p:pic>
      <p:sp>
        <p:nvSpPr>
          <p:cNvPr id="4" name="Text 0"/>
          <p:cNvSpPr/>
          <p:nvPr>
            <p:ph idx="102" type="body" hasCustomPrompt="1"/>
          </p:nvPr>
        </p:nvSpPr>
        <p:spPr>
          <a:xfrm>
            <a:off x="566928" y="384048"/>
            <a:ext cx="10058400" cy="274320"/>
          </a:xfrm>
          <a:prstGeom prst="rect">
            <a:avLst/>
          </a:prstGeom>
          <a:noFill/>
          <a:ln/>
        </p:spPr>
        <p:txBody>
          <a:bodyPr wrap="square" rtlCol="0"/>
          <a:lstStyle>
            <a:lvl1pPr algn="l" indent="0" marL="0">
              <a:buNone/>
              <a:defRPr lang="en-US" sz="1300" dirty="0">
                <a:solidFill>
                  <a:srgbClr val="C0203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5" name="Text 0"/>
          <p:cNvSpPr/>
          <p:nvPr>
            <p:ph idx="103" type="title" hasCustomPrompt="1"/>
          </p:nvPr>
        </p:nvSpPr>
        <p:spPr>
          <a:xfrm>
            <a:off x="548640" y="658368"/>
            <a:ext cx="10241280" cy="777240"/>
          </a:xfrm>
          <a:prstGeom prst="rect">
            <a:avLst/>
          </a:prstGeom>
          <a:noFill/>
          <a:ln/>
        </p:spPr>
        <p:txBody>
          <a:bodyPr wrap="square" rtlCol="0"/>
          <a:lstStyle>
            <a:lvl1pPr algn="l" indent="0" marL="0">
              <a:buNone/>
              <a:defRPr lang="en-US" sz="2900" b="1" dirty="0">
                <a:solidFill>
                  <a:srgbClr val="222222"/>
                </a:solidFill>
                <a:latin typeface="Arial" pitchFamily="34" charset="0"/>
                <a:ea typeface="Arial" pitchFamily="34" charset="-122"/>
                <a:cs typeface="Arial" pitchFamily="34" charset="-120"/>
              </a:defRPr>
            </a:lvl1pPr>
          </a:lstStyle>
          <a:p>
            <a:pPr algn="l" indent="0" marL="0">
              <a:buNone/>
            </a:pPr>
            <a:endParaRPr lang="en-US" sz="29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DB_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rtlCol="0"/>
          <a:lstStyle>
            <a:lvl1pPr algn="l" indent="0" marL="0">
              <a:buNone/>
              <a:defRPr lang="en-US" sz="1800" b="1" spc="300" kern="0" dirty="0">
                <a:solidFill>
                  <a:srgbClr val="F4C3CB"/>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DB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SoICT logo">    </p:cNvPr>
          <p:cNvPicPr>
            <a:picLocks noChangeAspect="1"/>
          </p:cNvPicPr>
          <p:nvPr/>
        </p:nvPicPr>
        <p:blipFill>
          <a:blip r:embed="rId1"/>
          <a:stretch>
            <a:fillRect/>
          </a:stretch>
        </p:blipFill>
        <p:spPr>
          <a:xfrm>
            <a:off x="502920" y="6400800"/>
            <a:ext cx="914400" cy="374904"/>
          </a:xfrm>
          <a:prstGeom prst="rect">
            <a:avLst/>
          </a:prstGeom>
        </p:spPr>
      </p:pic>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2148840"/>
            <a:ext cx="10058400" cy="320040"/>
          </a:xfrm>
          <a:prstGeom prst="rect">
            <a:avLst/>
          </a:prstGeom>
          <a:noFill/>
          <a:ln/>
        </p:spPr>
        <p:txBody>
          <a:bodyPr wrap="square" lIns="0" tIns="0" rIns="0" bIns="0" rtlCol="0" anchor="ctr"/>
          <a:lstStyle/>
          <a:p>
            <a:pPr indent="0" marL="0">
              <a:buNone/>
            </a:pPr>
            <a:r>
              <a:rPr lang="en-US" sz="1500" dirty="0">
                <a:solidFill>
                  <a:schemeClr val="accent1"/>
                </a:solidFill>
              </a:rPr>
              <a:t>Semantic Web course project, topic 2</a:t>
            </a:r>
            <a:endParaRPr lang="en-US" sz="1500" dirty="0"/>
          </a:p>
        </p:txBody>
      </p:sp>
      <p:sp>
        <p:nvSpPr>
          <p:cNvPr id="3" name="Text 1"/>
          <p:cNvSpPr txBox="1"/>
          <p:nvPr/>
        </p:nvSpPr>
        <p:spPr>
          <a:xfrm>
            <a:off x="548640" y="2514600"/>
            <a:ext cx="10789920" cy="1554480"/>
          </a:xfrm>
          <a:prstGeom prst="rect">
            <a:avLst/>
          </a:prstGeom>
          <a:noFill/>
          <a:ln/>
        </p:spPr>
        <p:txBody>
          <a:bodyPr wrap="square" lIns="0" tIns="0" rIns="0" bIns="0" rtlCol="0" anchor="ctr"/>
          <a:lstStyle/>
          <a:p>
            <a:pPr indent="0" marL="0">
              <a:buNone/>
            </a:pPr>
            <a:r>
              <a:rPr lang="en-US" sz="4200" b="1" dirty="0">
                <a:solidFill>
                  <a:schemeClr val="tx1"/>
                </a:solidFill>
                <a:latin typeface="+mj-lt" pitchFamily="34" charset="0"/>
                <a:ea typeface="+mj-lt" pitchFamily="34" charset="-122"/>
                <a:cs typeface="+mj-lt" pitchFamily="34" charset="-120"/>
              </a:rPr>
              <a:t>ViDBpedia: An Inference-Rich</a:t>
            </a:r>
            <a:endParaRPr lang="en-US" sz="4200" dirty="0"/>
          </a:p>
          <a:p>
            <a:pPr indent="0" marL="0">
              <a:buNone/>
            </a:pPr>
            <a:r>
              <a:rPr lang="en-US" sz="4200" b="1" dirty="0">
                <a:solidFill>
                  <a:schemeClr val="tx1"/>
                </a:solidFill>
                <a:latin typeface="+mj-lt" pitchFamily="34" charset="0"/>
                <a:ea typeface="+mj-lt" pitchFamily="34" charset="-122"/>
                <a:cs typeface="+mj-lt" pitchFamily="34" charset="-120"/>
              </a:rPr>
              <a:t>Vietnamese DBpedia</a:t>
            </a:r>
            <a:endParaRPr lang="en-US" sz="4200" dirty="0"/>
          </a:p>
        </p:txBody>
      </p:sp>
      <p:sp>
        <p:nvSpPr>
          <p:cNvPr id="4" name="Text 2"/>
          <p:cNvSpPr txBox="1"/>
          <p:nvPr/>
        </p:nvSpPr>
        <p:spPr>
          <a:xfrm>
            <a:off x="566928" y="4023360"/>
            <a:ext cx="10789920" cy="64008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from Wikipedia infoboxes to 5-star Linked Data</a:t>
            </a:r>
            <a:endParaRPr lang="en-US" sz="2600" dirty="0"/>
          </a:p>
        </p:txBody>
      </p:sp>
      <p:sp>
        <p:nvSpPr>
          <p:cNvPr id="5" name="Text 3"/>
          <p:cNvSpPr txBox="1"/>
          <p:nvPr/>
        </p:nvSpPr>
        <p:spPr>
          <a:xfrm>
            <a:off x="566928" y="4800600"/>
            <a:ext cx="8686800" cy="73152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Le Phu Tai (20252268M)   ·   Nguyen Thi Mai Anh (20252265M)</a:t>
            </a:r>
            <a:endParaRPr lang="en-US" sz="1500" dirty="0"/>
          </a:p>
          <a:p>
            <a:pPr indent="0" marL="0">
              <a:lnSpc>
                <a:spcPct val="115000"/>
              </a:lnSpc>
              <a:buNone/>
            </a:pPr>
            <a:r>
              <a:rPr lang="en-US" sz="1500" dirty="0">
                <a:solidFill>
                  <a:schemeClr val="tx1"/>
                </a:solidFill>
              </a:rPr>
              <a:t>Duong Hoang Hai (20252273M)   ·   Le Van Luan (20252572M)</a:t>
            </a:r>
            <a:endParaRPr lang="en-US" sz="1500" dirty="0"/>
          </a:p>
        </p:txBody>
      </p:sp>
      <p:sp>
        <p:nvSpPr>
          <p:cNvPr id="6" name="Text 4"/>
          <p:cNvSpPr txBox="1"/>
          <p:nvPr/>
        </p:nvSpPr>
        <p:spPr>
          <a:xfrm>
            <a:off x="566928" y="5897880"/>
            <a:ext cx="9144000" cy="320040"/>
          </a:xfrm>
          <a:prstGeom prst="rect">
            <a:avLst/>
          </a:prstGeom>
          <a:noFill/>
          <a:ln/>
        </p:spPr>
        <p:txBody>
          <a:bodyPr wrap="square" lIns="0" tIns="0" rIns="0" bIns="0" rtlCol="0" anchor="t"/>
          <a:lstStyle/>
          <a:p>
            <a:pPr indent="0" marL="0">
              <a:buNone/>
            </a:pPr>
            <a:r>
              <a:rPr lang="en-US" sz="1250" i="1" dirty="0">
                <a:solidFill>
                  <a:schemeClr val="tx2"/>
                </a:solidFill>
              </a:rPr>
              <a:t>School of Information and Communication Technology  ·  HUST</a:t>
            </a:r>
            <a:endParaRPr lang="en-US" sz="12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Outline</a:t>
            </a:r>
            <a:endParaRPr lang="en-US" sz="2900" dirty="0"/>
          </a:p>
        </p:txBody>
      </p:sp>
      <p:sp>
        <p:nvSpPr>
          <p:cNvPr id="5" name="Text 2"/>
          <p:cNvSpPr txBox="1"/>
          <p:nvPr/>
        </p:nvSpPr>
        <p:spPr>
          <a:xfrm>
            <a:off x="822960" y="1600200"/>
            <a:ext cx="9144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01</a:t>
            </a:r>
            <a:endParaRPr lang="en-US" sz="3000" dirty="0"/>
          </a:p>
        </p:txBody>
      </p:sp>
      <p:sp>
        <p:nvSpPr>
          <p:cNvPr id="6" name="Text 3"/>
          <p:cNvSpPr txBox="1"/>
          <p:nvPr/>
        </p:nvSpPr>
        <p:spPr>
          <a:xfrm>
            <a:off x="1874520" y="1618488"/>
            <a:ext cx="74980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Introduction</a:t>
            </a:r>
            <a:endParaRPr lang="en-US" sz="1800" dirty="0"/>
          </a:p>
        </p:txBody>
      </p:sp>
      <p:sp>
        <p:nvSpPr>
          <p:cNvPr id="7" name="Text 4"/>
          <p:cNvSpPr txBox="1"/>
          <p:nvPr/>
        </p:nvSpPr>
        <p:spPr>
          <a:xfrm>
            <a:off x="1874520" y="2002536"/>
            <a:ext cx="7498080" cy="274320"/>
          </a:xfrm>
          <a:prstGeom prst="rect">
            <a:avLst/>
          </a:prstGeom>
          <a:noFill/>
          <a:ln/>
        </p:spPr>
        <p:txBody>
          <a:bodyPr wrap="square" lIns="0" tIns="0" rIns="0" bIns="0" rtlCol="0" anchor="t"/>
          <a:lstStyle/>
          <a:p>
            <a:pPr indent="0" marL="0">
              <a:buNone/>
            </a:pPr>
            <a:r>
              <a:rPr lang="en-US" sz="1350" dirty="0">
                <a:solidFill>
                  <a:schemeClr val="tx2"/>
                </a:solidFill>
              </a:rPr>
              <a:t>motivation and requirements</a:t>
            </a:r>
            <a:endParaRPr lang="en-US" sz="1350" dirty="0"/>
          </a:p>
        </p:txBody>
      </p:sp>
      <p:sp>
        <p:nvSpPr>
          <p:cNvPr id="8" name="Text 5"/>
          <p:cNvSpPr txBox="1"/>
          <p:nvPr/>
        </p:nvSpPr>
        <p:spPr>
          <a:xfrm>
            <a:off x="822960" y="2496312"/>
            <a:ext cx="9144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02</a:t>
            </a:r>
            <a:endParaRPr lang="en-US" sz="3000" dirty="0"/>
          </a:p>
        </p:txBody>
      </p:sp>
      <p:sp>
        <p:nvSpPr>
          <p:cNvPr id="9" name="Text 6"/>
          <p:cNvSpPr txBox="1"/>
          <p:nvPr/>
        </p:nvSpPr>
        <p:spPr>
          <a:xfrm>
            <a:off x="1874520" y="2514600"/>
            <a:ext cx="74980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Ontology design</a:t>
            </a:r>
            <a:endParaRPr lang="en-US" sz="1800" dirty="0"/>
          </a:p>
        </p:txBody>
      </p:sp>
      <p:sp>
        <p:nvSpPr>
          <p:cNvPr id="10" name="Text 7"/>
          <p:cNvSpPr txBox="1"/>
          <p:nvPr/>
        </p:nvSpPr>
        <p:spPr>
          <a:xfrm>
            <a:off x="1874520" y="2898648"/>
            <a:ext cx="7498080" cy="274320"/>
          </a:xfrm>
          <a:prstGeom prst="rect">
            <a:avLst/>
          </a:prstGeom>
          <a:noFill/>
          <a:ln/>
        </p:spPr>
        <p:txBody>
          <a:bodyPr wrap="square" lIns="0" tIns="0" rIns="0" bIns="0" rtlCol="0" anchor="t"/>
          <a:lstStyle/>
          <a:p>
            <a:pPr indent="0" marL="0">
              <a:buNone/>
            </a:pPr>
            <a:r>
              <a:rPr lang="en-US" sz="1350" dirty="0">
                <a:solidFill>
                  <a:schemeClr val="tx2"/>
                </a:solidFill>
              </a:rPr>
              <a:t>competency questions, classes, property axioms</a:t>
            </a:r>
            <a:endParaRPr lang="en-US" sz="1350" dirty="0"/>
          </a:p>
        </p:txBody>
      </p:sp>
      <p:sp>
        <p:nvSpPr>
          <p:cNvPr id="11" name="Text 8"/>
          <p:cNvSpPr txBox="1"/>
          <p:nvPr/>
        </p:nvSpPr>
        <p:spPr>
          <a:xfrm>
            <a:off x="822960" y="3392424"/>
            <a:ext cx="9144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03</a:t>
            </a:r>
            <a:endParaRPr lang="en-US" sz="3000" dirty="0"/>
          </a:p>
        </p:txBody>
      </p:sp>
      <p:sp>
        <p:nvSpPr>
          <p:cNvPr id="12" name="Text 9"/>
          <p:cNvSpPr txBox="1"/>
          <p:nvPr/>
        </p:nvSpPr>
        <p:spPr>
          <a:xfrm>
            <a:off x="1874520" y="3410712"/>
            <a:ext cx="74980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Extraction and reasoning</a:t>
            </a:r>
            <a:endParaRPr lang="en-US" sz="1800" dirty="0"/>
          </a:p>
        </p:txBody>
      </p:sp>
      <p:sp>
        <p:nvSpPr>
          <p:cNvPr id="13" name="Text 10"/>
          <p:cNvSpPr txBox="1"/>
          <p:nvPr/>
        </p:nvSpPr>
        <p:spPr>
          <a:xfrm>
            <a:off x="1874520" y="3794760"/>
            <a:ext cx="7498080" cy="274320"/>
          </a:xfrm>
          <a:prstGeom prst="rect">
            <a:avLst/>
          </a:prstGeom>
          <a:noFill/>
          <a:ln/>
        </p:spPr>
        <p:txBody>
          <a:bodyPr wrap="square" lIns="0" tIns="0" rIns="0" bIns="0" rtlCol="0" anchor="t"/>
          <a:lstStyle/>
          <a:p>
            <a:pPr indent="0" marL="0">
              <a:buNone/>
            </a:pPr>
            <a:r>
              <a:rPr lang="en-US" sz="1350" dirty="0">
                <a:solidFill>
                  <a:schemeClr val="tx2"/>
                </a:solidFill>
              </a:rPr>
              <a:t>pipeline, infobox extraction, reasoning, data quality</a:t>
            </a:r>
            <a:endParaRPr lang="en-US" sz="1350" dirty="0"/>
          </a:p>
        </p:txBody>
      </p:sp>
      <p:sp>
        <p:nvSpPr>
          <p:cNvPr id="14" name="Text 11"/>
          <p:cNvSpPr txBox="1"/>
          <p:nvPr/>
        </p:nvSpPr>
        <p:spPr>
          <a:xfrm>
            <a:off x="822960" y="4288536"/>
            <a:ext cx="9144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04</a:t>
            </a:r>
            <a:endParaRPr lang="en-US" sz="3000" dirty="0"/>
          </a:p>
        </p:txBody>
      </p:sp>
      <p:sp>
        <p:nvSpPr>
          <p:cNvPr id="15" name="Text 12"/>
          <p:cNvSpPr txBox="1"/>
          <p:nvPr/>
        </p:nvSpPr>
        <p:spPr>
          <a:xfrm>
            <a:off x="1874520" y="4306824"/>
            <a:ext cx="74980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Linking and endpoint</a:t>
            </a:r>
            <a:endParaRPr lang="en-US" sz="1800" dirty="0"/>
          </a:p>
        </p:txBody>
      </p:sp>
      <p:sp>
        <p:nvSpPr>
          <p:cNvPr id="16" name="Text 13"/>
          <p:cNvSpPr txBox="1"/>
          <p:nvPr/>
        </p:nvSpPr>
        <p:spPr>
          <a:xfrm>
            <a:off x="1874520" y="4690872"/>
            <a:ext cx="7498080" cy="274320"/>
          </a:xfrm>
          <a:prstGeom prst="rect">
            <a:avLst/>
          </a:prstGeom>
          <a:noFill/>
          <a:ln/>
        </p:spPr>
        <p:txBody>
          <a:bodyPr wrap="square" lIns="0" tIns="0" rIns="0" bIns="0" rtlCol="0" anchor="t"/>
          <a:lstStyle/>
          <a:p>
            <a:pPr indent="0" marL="0">
              <a:buNone/>
            </a:pPr>
            <a:r>
              <a:rPr lang="en-US" sz="1350" dirty="0">
                <a:solidFill>
                  <a:schemeClr val="tx2"/>
                </a:solidFill>
              </a:rPr>
              <a:t>links to DBpedia, SPARQL endpoint, 5-star data</a:t>
            </a:r>
            <a:endParaRPr lang="en-US" sz="1350" dirty="0"/>
          </a:p>
        </p:txBody>
      </p:sp>
      <p:sp>
        <p:nvSpPr>
          <p:cNvPr id="17" name="Text 14"/>
          <p:cNvSpPr txBox="1"/>
          <p:nvPr/>
        </p:nvSpPr>
        <p:spPr>
          <a:xfrm>
            <a:off x="822960" y="5184648"/>
            <a:ext cx="9144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05</a:t>
            </a:r>
            <a:endParaRPr lang="en-US" sz="3000" dirty="0"/>
          </a:p>
        </p:txBody>
      </p:sp>
      <p:sp>
        <p:nvSpPr>
          <p:cNvPr id="18" name="Text 15"/>
          <p:cNvSpPr txBox="1"/>
          <p:nvPr/>
        </p:nvSpPr>
        <p:spPr>
          <a:xfrm>
            <a:off x="1874520" y="5202936"/>
            <a:ext cx="74980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Evaluation and conclusion</a:t>
            </a:r>
            <a:endParaRPr lang="en-US" sz="1800" dirty="0"/>
          </a:p>
        </p:txBody>
      </p:sp>
      <p:sp>
        <p:nvSpPr>
          <p:cNvPr id="19" name="Text 16"/>
          <p:cNvSpPr txBox="1"/>
          <p:nvPr/>
        </p:nvSpPr>
        <p:spPr>
          <a:xfrm>
            <a:off x="1874520" y="5586984"/>
            <a:ext cx="7498080" cy="274320"/>
          </a:xfrm>
          <a:prstGeom prst="rect">
            <a:avLst/>
          </a:prstGeom>
          <a:noFill/>
          <a:ln/>
        </p:spPr>
        <p:txBody>
          <a:bodyPr wrap="square" lIns="0" tIns="0" rIns="0" bIns="0" rtlCol="0" anchor="t"/>
          <a:lstStyle/>
          <a:p>
            <a:pPr indent="0" marL="0">
              <a:buNone/>
            </a:pPr>
            <a:r>
              <a:rPr lang="en-US" sz="1350" dirty="0">
                <a:solidFill>
                  <a:schemeClr val="tx2"/>
                </a:solidFill>
              </a:rPr>
              <a:t>competency questions, lessons learned, future work</a:t>
            </a:r>
            <a:endParaRPr lang="en-US" sz="13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lIns="0" tIns="0" rIns="0" bIns="0" rtlCol="0" anchor="ctr"/>
          <a:lstStyle/>
          <a:p>
            <a:pPr algn="l" indent="0" marL="0">
              <a:buNone/>
            </a:pPr>
            <a:r>
              <a:rPr lang="en-US" sz="1800" b="1" spc="300" kern="0" dirty="0">
                <a:solidFill>
                  <a:srgbClr val="F4C3CB"/>
                </a:solidFill>
                <a:latin typeface="Calibri" pitchFamily="34" charset="0"/>
                <a:ea typeface="Calibri" pitchFamily="34" charset="-122"/>
                <a:cs typeface="Calibri" pitchFamily="34" charset="-120"/>
              </a:rPr>
              <a:t>PART 01</a:t>
            </a: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Introduction</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1 · Introduction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Motivation</a:t>
            </a:r>
            <a:endParaRPr lang="en-US" sz="2900" dirty="0"/>
          </a:p>
        </p:txBody>
      </p:sp>
      <p:sp>
        <p:nvSpPr>
          <p:cNvPr id="5" name="Text 2"/>
          <p:cNvSpPr txBox="1"/>
          <p:nvPr/>
        </p:nvSpPr>
        <p:spPr>
          <a:xfrm>
            <a:off x="640080" y="1691640"/>
            <a:ext cx="4846320" cy="3291840"/>
          </a:xfrm>
          <a:prstGeom prst="rect">
            <a:avLst/>
          </a:prstGeom>
          <a:noFill/>
          <a:ln/>
        </p:spPr>
        <p:txBody>
          <a:bodyPr wrap="square" lIns="0" tIns="0" rIns="0" bIns="0" rtlCol="0" anchor="t"/>
          <a:lstStyle/>
          <a:p>
            <a:pPr marL="228600" indent="-228600">
              <a:spcAft>
                <a:spcPts val="900"/>
              </a:spcAft>
              <a:buSzPct val="100000"/>
              <a:buChar char="•"/>
            </a:pPr>
            <a:r>
              <a:rPr lang="en-US" sz="1650" dirty="0">
                <a:solidFill>
                  <a:schemeClr val="tx1"/>
                </a:solidFill>
              </a:rPr>
              <a:t>Vietnamese Wikipedia has 1.6 million articles. Its facts sit in infoboxes written as wiki-text, so a program cannot query them.</a:t>
            </a:r>
            <a:endParaRPr lang="en-US" sz="1650" dirty="0"/>
          </a:p>
          <a:p>
            <a:pPr marL="228600" indent="-228600">
              <a:spcAft>
                <a:spcPts val="900"/>
              </a:spcAft>
              <a:buSzPct val="100000"/>
              <a:buChar char="•"/>
            </a:pPr>
            <a:r>
              <a:rPr lang="en-US" sz="1650" dirty="0">
                <a:solidFill>
                  <a:schemeClr val="tx1"/>
                </a:solidFill>
              </a:rPr>
              <a:t>English DBpedia covers few Vietnamese dynasties, mandarins and battles, and nothing about the 2025 merger of provinces.</a:t>
            </a:r>
            <a:endParaRPr lang="en-US" sz="1650" dirty="0"/>
          </a:p>
          <a:p>
            <a:pPr marL="228600" indent="-228600">
              <a:spcAft>
                <a:spcPts val="900"/>
              </a:spcAft>
              <a:buSzPct val="100000"/>
              <a:buChar char="•"/>
            </a:pPr>
            <a:r>
              <a:rPr lang="en-US" sz="1650" dirty="0">
                <a:solidFill>
                  <a:schemeClr val="tx1"/>
                </a:solidFill>
              </a:rPr>
              <a:t>Many answers are not written in any article. They have to be put together from several pages.</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06440" y="1691640"/>
          <a:ext cx="5760720" cy="914400"/>
        </p:xfrm>
        <a:graphic>
          <a:graphicData uri="http://schemas.openxmlformats.org/drawingml/2006/table">
            <a:tbl>
              <a:tblPr/>
              <a:tblGrid>
                <a:gridCol w="2743200"/>
                <a:gridCol w="301752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Where the answer is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Who is Trần Nhân Tông’s paternal grandfather?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his father’s article, then that article’s “cha” field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Who was born in today’s Nghệ An?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birthplaces are communes or districts, many renamed or merged in 2025</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Who took part in the Mongol–Đại Việt war?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each battle’s infobox lists its own commanders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7" name="Text 3"/>
          <p:cNvSpPr txBox="1"/>
          <p:nvPr/>
        </p:nvSpPr>
        <p:spPr>
          <a:xfrm>
            <a:off x="640080" y="5257800"/>
            <a:ext cx="10927080" cy="411480"/>
          </a:xfrm>
          <a:prstGeom prst="rect">
            <a:avLst/>
          </a:prstGeom>
          <a:noFill/>
          <a:ln/>
        </p:spPr>
        <p:txBody>
          <a:bodyPr wrap="square" lIns="0" tIns="0" rIns="0" bIns="0" rtlCol="0" anchor="ctr"/>
          <a:lstStyle/>
          <a:p>
            <a:pPr indent="0" marL="0">
              <a:buNone/>
            </a:pPr>
            <a:r>
              <a:rPr lang="en-US" sz="1700" b="1" dirty="0">
                <a:solidFill>
                  <a:schemeClr val="tx1"/>
                </a:solidFill>
              </a:rPr>
              <a:t>Our goal: an ontology that lets the machine answer such questions by itself.</a:t>
            </a:r>
            <a:endParaRPr lang="en-US" sz="17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1 · Introduction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Requirements</a:t>
            </a:r>
            <a:endParaRPr lang="en-US" sz="2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27080" cy="914400"/>
        </p:xfrm>
        <a:graphic>
          <a:graphicData uri="http://schemas.openxmlformats.org/drawingml/2006/table">
            <a:tbl>
              <a:tblPr/>
              <a:tblGrid>
                <a:gridCol w="3429000"/>
                <a:gridCol w="5120640"/>
                <a:gridCol w="2377440"/>
              </a:tblGrid>
              <a:tr h="475488">
                <a:tc>
                  <a:txBody>
                    <a:bodyPr/>
                    <a:lstStyle/>
                    <a:p>
                      <a:pPr indent="0" marL="0">
                        <a:buNone/>
                      </a:pPr>
                      <a:r>
                        <a:rPr lang="en-US" sz="1450" b="1" dirty="0">
                          <a:solidFill>
                            <a:schemeClr val="bg1"/>
                          </a:solidFill>
                          <a:latin typeface="Calibri" pitchFamily="34" charset="0"/>
                          <a:ea typeface="Calibri" pitchFamily="34" charset="-122"/>
                          <a:cs typeface="Calibri" pitchFamily="34" charset="-120"/>
                        </a:rPr>
                        <a:t>Requirement</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50" b="1" dirty="0">
                          <a:solidFill>
                            <a:schemeClr val="bg1"/>
                          </a:solidFill>
                          <a:latin typeface="Calibri" pitchFamily="34" charset="0"/>
                          <a:ea typeface="Calibri" pitchFamily="34" charset="-122"/>
                          <a:cs typeface="Calibri" pitchFamily="34" charset="-120"/>
                        </a:rPr>
                        <a:t>What we built</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50" b="1" dirty="0">
                          <a:solidFill>
                            <a:schemeClr val="bg1"/>
                          </a:solidFill>
                          <a:latin typeface="Calibri" pitchFamily="34" charset="0"/>
                          <a:ea typeface="Calibri" pitchFamily="34" charset="-122"/>
                          <a:cs typeface="Calibri" pitchFamily="34" charset="-120"/>
                        </a:rPr>
                        <a:t>Size</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566928">
                <a:tc>
                  <a:txBody>
                    <a:bodyPr/>
                    <a:lstStyle/>
                    <a:p>
                      <a:pPr indent="0" marL="0">
                        <a:buNone/>
                      </a:pPr>
                      <a:r>
                        <a:rPr lang="en-US" sz="1450" b="1" dirty="0">
                          <a:solidFill>
                            <a:srgbClr val="C02034"/>
                          </a:solidFill>
                          <a:latin typeface="Calibri" pitchFamily="34" charset="0"/>
                          <a:ea typeface="Calibri" pitchFamily="34" charset="-122"/>
                          <a:cs typeface="Calibri" pitchFamily="34" charset="-120"/>
                        </a:rPr>
                        <a:t>1. Define an ontology</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vidbo in OWL 2 DL, SHACL shapes, 6 SPARQL rules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48 classes, 115 properties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50" b="1" dirty="0">
                          <a:solidFill>
                            <a:srgbClr val="C02034"/>
                          </a:solidFill>
                          <a:latin typeface="Calibri" pitchFamily="34" charset="0"/>
                          <a:ea typeface="Calibri" pitchFamily="34" charset="-122"/>
                          <a:cs typeface="Calibri" pitchFamily="34" charset="-120"/>
                        </a:rPr>
                        <a:t>2. Collect Vietnamese Wikipedia articles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read the official dump; keep articles by infobox and category</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44,003 articles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566928">
                <a:tc>
                  <a:txBody>
                    <a:bodyPr/>
                    <a:lstStyle/>
                    <a:p>
                      <a:pPr indent="0" marL="0">
                        <a:buNone/>
                      </a:pPr>
                      <a:r>
                        <a:rPr lang="en-US" sz="1450" b="1" dirty="0">
                          <a:solidFill>
                            <a:srgbClr val="C02034"/>
                          </a:solidFill>
                          <a:latin typeface="Calibri" pitchFamily="34" charset="0"/>
                          <a:ea typeface="Calibri" pitchFamily="34" charset="-122"/>
                          <a:cs typeface="Calibri" pitchFamily="34" charset="-120"/>
                        </a:rPr>
                        <a:t>3. Transform into 4-star data</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YAML infobox mappings, Vietnamese value parsers, resolvable URIs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1.51M triples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50" b="1" dirty="0">
                          <a:solidFill>
                            <a:srgbClr val="C02034"/>
                          </a:solidFill>
                          <a:latin typeface="Calibri" pitchFamily="34" charset="0"/>
                          <a:ea typeface="Calibri" pitchFamily="34" charset="-122"/>
                          <a:cs typeface="Calibri" pitchFamily="34" charset="-120"/>
                        </a:rPr>
                        <a:t>4. Link to English DBpedia</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interlanguage links checked on dbpedia.org, plus a Silk-style matcher</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32,465 links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566928">
                <a:tc>
                  <a:txBody>
                    <a:bodyPr/>
                    <a:lstStyle/>
                    <a:p>
                      <a:pPr indent="0" marL="0">
                        <a:buNone/>
                      </a:pPr>
                      <a:r>
                        <a:rPr lang="en-US" sz="1450" b="1" dirty="0">
                          <a:solidFill>
                            <a:srgbClr val="C02034"/>
                          </a:solidFill>
                          <a:latin typeface="Calibri" pitchFamily="34" charset="0"/>
                          <a:ea typeface="Calibri" pitchFamily="34" charset="-122"/>
                          <a:cs typeface="Calibri" pitchFamily="34" charset="-120"/>
                        </a:rPr>
                        <a:t>5. SPARQL endpoint / terminal</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Apache Jena Fuseki, web pages, command-line client</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50" dirty="0">
                          <a:solidFill>
                            <a:srgbClr val="222222"/>
                          </a:solidFill>
                          <a:latin typeface="Calibri" pitchFamily="34" charset="0"/>
                          <a:ea typeface="Calibri" pitchFamily="34" charset="-122"/>
                          <a:cs typeface="Calibri" pitchFamily="34" charset="-120"/>
                        </a:rPr>
                        <a:t>18 test queries</a:t>
                      </a:r>
                      <a:endParaRPr lang="en-US" sz="14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640080" y="5257800"/>
            <a:ext cx="10927080" cy="548640"/>
          </a:xfrm>
          <a:prstGeom prst="rect">
            <a:avLst/>
          </a:prstGeom>
          <a:noFill/>
          <a:ln/>
        </p:spPr>
        <p:txBody>
          <a:bodyPr wrap="square" lIns="0" tIns="0" rIns="0" bIns="0" rtlCol="0" anchor="t"/>
          <a:lstStyle/>
          <a:p>
            <a:pPr indent="0" marL="0">
              <a:buNone/>
            </a:pPr>
            <a:r>
              <a:rPr lang="en-US" sz="1500" dirty="0">
                <a:solidFill>
                  <a:schemeClr val="tx2"/>
                </a:solidFill>
              </a:rPr>
              <a:t>The lecturer asked for an ontology that infers more than was extracted: reasoning adds 2.64M triples to the 1.51M extracted ones.</a:t>
            </a:r>
            <a:endParaRPr lang="en-US" sz="15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lIns="0" tIns="0" rIns="0" bIns="0" rtlCol="0" anchor="ctr"/>
          <a:lstStyle/>
          <a:p>
            <a:pPr algn="l" indent="0" marL="0">
              <a:buNone/>
            </a:pPr>
            <a:r>
              <a:rPr lang="en-US" sz="1800" b="1" spc="300" kern="0" dirty="0">
                <a:solidFill>
                  <a:srgbClr val="F4C3CB"/>
                </a:solidFill>
                <a:latin typeface="Calibri" pitchFamily="34" charset="0"/>
                <a:ea typeface="Calibri" pitchFamily="34" charset="-122"/>
                <a:cs typeface="Calibri" pitchFamily="34" charset="-120"/>
              </a:rPr>
              <a:t>PART 02</a:t>
            </a: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Ontology</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design</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Competency questions</a:t>
            </a:r>
            <a:endParaRPr lang="en-US" sz="2900" dirty="0"/>
          </a:p>
        </p:txBody>
      </p:sp>
      <p:sp>
        <p:nvSpPr>
          <p:cNvPr id="5" name="Text 2"/>
          <p:cNvSpPr txBox="1"/>
          <p:nvPr/>
        </p:nvSpPr>
        <p:spPr>
          <a:xfrm>
            <a:off x="640080" y="1600200"/>
            <a:ext cx="10927080" cy="640080"/>
          </a:xfrm>
          <a:prstGeom prst="rect">
            <a:avLst/>
          </a:prstGeom>
          <a:noFill/>
          <a:ln/>
        </p:spPr>
        <p:txBody>
          <a:bodyPr wrap="square" lIns="0" tIns="0" rIns="0" bIns="0" rtlCol="0" anchor="t"/>
          <a:lstStyle/>
          <a:p>
            <a:pPr indent="0" marL="0">
              <a:buNone/>
            </a:pPr>
            <a:r>
              <a:rPr lang="en-US" sz="1600" dirty="0">
                <a:solidFill>
                  <a:schemeClr val="tx1"/>
                </a:solidFill>
              </a:rPr>
              <a:t>We wrote 18 competency questions first. Each became a SPARQL query, and we added axioms until all 18 returned answers. Four examples: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10927080" cy="914400"/>
        </p:xfrm>
        <a:graphic>
          <a:graphicData uri="http://schemas.openxmlformats.org/drawingml/2006/table">
            <a:tbl>
              <a:tblPr/>
              <a:tblGrid>
                <a:gridCol w="3520440"/>
                <a:gridCol w="3017520"/>
                <a:gridCol w="438912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Competency question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the ontology needs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Axiom</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65836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CQ2  Paternal grandfather of Trần Nhân Tông</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 two-step family relation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hasPaternalGrandfather ≡ hasFather ∘ hasFather</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CQ4  Monarchs who commanded battles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“monarch” and “commander” as classes the reasoner fills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MonarchWarrior ≡ Monarch ⊓ MilitaryCommander</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65836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CQ8  People born in today’s Nghệ An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 birthplace rolled up to its province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bornWithin ∘ locatedIn ⊑ bornWithin</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CQ9  Provinces after the 2025 merger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the administrative level as a value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FirstLevelUnit ≡ AdminUnit ⊓ ∋adminLevel.{1}</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Class hierarchy</a:t>
            </a:r>
            <a:endParaRPr lang="en-US" sz="2900" dirty="0"/>
          </a:p>
        </p:txBody>
      </p:sp>
      <p:pic>
        <p:nvPicPr>
          <p:cNvPr id="5" name="Image 0" descr="Class hierarchy of the vidbo ontology">    </p:cNvPr>
          <p:cNvPicPr>
            <a:picLocks noChangeAspect="1"/>
          </p:cNvPicPr>
          <p:nvPr/>
        </p:nvPicPr>
        <p:blipFill>
          <a:blip r:embed="rId1"/>
          <a:stretch>
            <a:fillRect/>
          </a:stretch>
        </p:blipFill>
        <p:spPr>
          <a:xfrm>
            <a:off x="1463040" y="1463040"/>
            <a:ext cx="9235440" cy="4334256"/>
          </a:xfrm>
          <a:prstGeom prst="rect">
            <a:avLst/>
          </a:prstGeom>
        </p:spPr>
      </p:pic>
      <p:sp>
        <p:nvSpPr>
          <p:cNvPr id="6" name="Text 2"/>
          <p:cNvSpPr txBox="1"/>
          <p:nvPr/>
        </p:nvSpPr>
        <p:spPr>
          <a:xfrm>
            <a:off x="640080" y="5870448"/>
            <a:ext cx="10927080" cy="365760"/>
          </a:xfrm>
          <a:prstGeom prst="rect">
            <a:avLst/>
          </a:prstGeom>
          <a:noFill/>
          <a:ln/>
        </p:spPr>
        <p:txBody>
          <a:bodyPr wrap="square" lIns="0" tIns="0" rIns="0" bIns="0" rtlCol="0" anchor="t"/>
          <a:lstStyle/>
          <a:p>
            <a:pPr algn="ctr" indent="0" marL="0">
              <a:buNone/>
            </a:pPr>
            <a:r>
              <a:rPr lang="en-US" sz="1500" dirty="0">
                <a:solidFill>
                  <a:schemeClr val="tx2"/>
                </a:solidFill>
              </a:rPr>
              <a:t>48 classes under five roots; the 13 in red are defined classes, filled by the reasoner.</a:t>
            </a:r>
            <a:endParaRPr lang="en-US" sz="15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Defined classes</a:t>
            </a:r>
            <a:endParaRPr lang="en-US" sz="2900" dirty="0"/>
          </a:p>
        </p:txBody>
      </p:sp>
      <p:sp>
        <p:nvSpPr>
          <p:cNvPr id="5" name="Text 2"/>
          <p:cNvSpPr txBox="1"/>
          <p:nvPr/>
        </p:nvSpPr>
        <p:spPr>
          <a:xfrm>
            <a:off x="640080" y="1572768"/>
            <a:ext cx="10927080" cy="457200"/>
          </a:xfrm>
          <a:prstGeom prst="rect">
            <a:avLst/>
          </a:prstGeom>
          <a:noFill/>
          <a:ln/>
        </p:spPr>
        <p:txBody>
          <a:bodyPr wrap="square" lIns="0" tIns="0" rIns="0" bIns="0" rtlCol="0" anchor="t"/>
          <a:lstStyle/>
          <a:p>
            <a:pPr indent="0" marL="0">
              <a:buNone/>
            </a:pPr>
            <a:r>
              <a:rPr lang="en-US" sz="1600" dirty="0">
                <a:solidFill>
                  <a:schemeClr val="tx1"/>
                </a:solidFill>
              </a:rPr>
              <a:t>Monarch, general and mandarin are roles a person holds for a time (OntoClean), so we define them instead of asserting them.</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27080" cy="914400"/>
        </p:xfrm>
        <a:graphic>
          <a:graphicData uri="http://schemas.openxmlformats.org/drawingml/2006/table">
            <a:tbl>
              <a:tblPr/>
              <a:tblGrid>
                <a:gridCol w="2743200"/>
                <a:gridCol w="6172200"/>
                <a:gridCol w="201168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Definition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Members found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Monarch</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Person ⊓ ∃hasReign.Reign</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3,981</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VietnameseMonarch</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Monarch ⊓ ∃memberOfDynasty.VietnameseDynasty</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169</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RoyalChild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Person ⊓ ∃hasParent.Monarch</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6,160</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MilitaryCommander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Person ⊓ ∃commanded.MilitaryConflict</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10,257</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MonarchWarrior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Monarch ⊓ MilitaryCommander</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755</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RoyalCourtOfficial</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OfficeHolder ⊓ ∃servedUnder.Monarch</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204</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ThirdLevelUnit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AdministrativeUnit ⊓ ∋adminLevel.{3}</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3,328</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Property axioms</a:t>
            </a:r>
            <a:endParaRPr lang="en-US" sz="2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27080" cy="914400"/>
        </p:xfrm>
        <a:graphic>
          <a:graphicData uri="http://schemas.openxmlformats.org/drawingml/2006/table">
            <a:tbl>
              <a:tblPr/>
              <a:tblGrid>
                <a:gridCol w="5669280"/>
                <a:gridCol w="525780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Axiom</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Example on our data</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hasPaternalGrandfather ≡ hasFather ∘ hasFather</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Trần Nhân Tông → Trần Thái Tông</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memberOfDynasty ⊒ hasFather ∘ memberOfDynasty</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Trần Anh Tông → Nhà Trần (his father is a Trần)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bornWithin ∘ locatedIn ⊑ bornWithin,  locatedIn transitive</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born in a commune → born within its district and province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participatedIn ∘ partOfConflict ⊑ participatedIn</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commanded Bạch Đằng 1288 → took part in the Mongol–Đại Việt war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uncleOrAunt ≡ hasParent ∘ sibling</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Trần Nhân Tông → Trần Quang Khải (sibling comes from rule R1)</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400" dirty="0">
                          <a:solidFill>
                            <a:srgbClr val="222222"/>
                          </a:solidFill>
                          <a:latin typeface="Cambria Math" pitchFamily="34" charset="0"/>
                          <a:ea typeface="Cambria Math" pitchFamily="34" charset="-122"/>
                          <a:cs typeface="Cambria Math" pitchFamily="34" charset="-120"/>
                        </a:rPr>
                        <a:t>hasAncestor transitive,  hasParent ⊑ hasAncestor</a:t>
                      </a:r>
                      <a:endParaRPr lang="en-US" sz="1400" dirty="0">
                        <a:latin typeface="Cambria Math" charset="0"/>
                        <a:ea typeface="Cambria Math" charset="0"/>
                        <a:cs typeface="Cambria Math"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whole royal family trees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6" name="Text 2"/>
          <p:cNvSpPr txBox="1"/>
          <p:nvPr/>
        </p:nvSpPr>
        <p:spPr>
          <a:xfrm>
            <a:off x="640080" y="5440680"/>
            <a:ext cx="10927080" cy="411480"/>
          </a:xfrm>
          <a:prstGeom prst="rect">
            <a:avLst/>
          </a:prstGeom>
          <a:noFill/>
          <a:ln/>
        </p:spPr>
        <p:txBody>
          <a:bodyPr wrap="square" lIns="0" tIns="0" rIns="0" bIns="0" rtlCol="0" anchor="t"/>
          <a:lstStyle/>
          <a:p>
            <a:pPr indent="0" marL="0">
              <a:buNone/>
            </a:pPr>
            <a:r>
              <a:rPr lang="en-US" sz="1500" dirty="0">
                <a:solidFill>
                  <a:schemeClr val="tx2"/>
                </a:solidFill>
              </a:rPr>
              <a:t>On the full data: 618k ancestor links, 69k bornWithin links, 36.7k participations in enclosing wars.</a:t>
            </a:r>
            <a:endParaRPr lang="en-US" sz="15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Reigns and the 2025 reform</a:t>
            </a:r>
            <a:endParaRPr lang="en-US" sz="2900" dirty="0"/>
          </a:p>
        </p:txBody>
      </p:sp>
      <p:sp>
        <p:nvSpPr>
          <p:cNvPr id="5" name="Text 2"/>
          <p:cNvSpPr txBox="1"/>
          <p:nvPr/>
        </p:nvSpPr>
        <p:spPr>
          <a:xfrm>
            <a:off x="640080" y="1600200"/>
            <a:ext cx="539496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A reign is an n-ary relation</a:t>
            </a:r>
            <a:endParaRPr lang="en-US" sz="1800" dirty="0"/>
          </a:p>
        </p:txBody>
      </p:sp>
      <p:sp>
        <p:nvSpPr>
          <p:cNvPr id="6" name="Text 3"/>
          <p:cNvSpPr txBox="1"/>
          <p:nvPr/>
        </p:nvSpPr>
        <p:spPr>
          <a:xfrm>
            <a:off x="640080" y="2057400"/>
            <a:ext cx="5394960" cy="822960"/>
          </a:xfrm>
          <a:prstGeom prst="rect">
            <a:avLst/>
          </a:prstGeom>
          <a:noFill/>
          <a:ln/>
        </p:spPr>
        <p:txBody>
          <a:bodyPr wrap="square" lIns="0" tIns="0" rIns="0" bIns="0" rtlCol="0" anchor="t"/>
          <a:lstStyle/>
          <a:p>
            <a:pPr indent="0" marL="0">
              <a:buNone/>
            </a:pPr>
            <a:r>
              <a:rPr lang="en-US" sz="1450" dirty="0">
                <a:solidFill>
                  <a:schemeClr val="tx2"/>
                </a:solidFill>
              </a:rPr>
              <a:t>“Trần Nhân Tông reigned as Emperor of Đại Việt for the Trần dynasty from 1278 to 1293” links five things, so each reign is a node of its own:</a:t>
            </a:r>
            <a:endParaRPr lang="en-US" sz="1450" dirty="0"/>
          </a:p>
        </p:txBody>
      </p:sp>
      <p:sp>
        <p:nvSpPr>
          <p:cNvPr id="7" name="code"/>
          <p:cNvSpPr/>
          <p:nvPr/>
        </p:nvSpPr>
        <p:spPr>
          <a:xfrm>
            <a:off x="640080" y="2971800"/>
            <a:ext cx="5394960" cy="1417320"/>
          </a:xfrm>
          <a:prstGeom prst="rect">
            <a:avLst/>
          </a:prstGeom>
          <a:solidFill>
            <a:schemeClr val="bg2"/>
          </a:solidFill>
          <a:ln w="9525">
            <a:solidFill>
              <a:schemeClr val="accent4"/>
            </a:solidFill>
            <a:prstDash val="solid"/>
          </a:ln>
        </p:spPr>
      </p:sp>
      <p:sp>
        <p:nvSpPr>
          <p:cNvPr id="8" name="Text 5"/>
          <p:cNvSpPr txBox="1"/>
          <p:nvPr/>
        </p:nvSpPr>
        <p:spPr>
          <a:xfrm>
            <a:off x="804672" y="3099816"/>
            <a:ext cx="5120640" cy="118872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vidbr:Trần_Nhân_Tông__Reign_0 a vidbo:Reign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vidbo:title "Hoàng đế Đại Việt"@vi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vidbo:tenureDynasty vidbr:Nhà_Trần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vidbo:startDate "1278-11-08"^^xsd:date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vidbo:endDate   "1293-04-16"^^xsd:date .</a:t>
            </a:r>
            <a:endParaRPr lang="en-US" sz="1250" dirty="0"/>
          </a:p>
        </p:txBody>
      </p:sp>
      <p:sp>
        <p:nvSpPr>
          <p:cNvPr id="9" name="Text 6"/>
          <p:cNvSpPr txBox="1"/>
          <p:nvPr/>
        </p:nvSpPr>
        <p:spPr>
          <a:xfrm>
            <a:off x="640080" y="4572000"/>
            <a:ext cx="5394960" cy="822960"/>
          </a:xfrm>
          <a:prstGeom prst="rect">
            <a:avLst/>
          </a:prstGeom>
          <a:noFill/>
          <a:ln/>
        </p:spPr>
        <p:txBody>
          <a:bodyPr wrap="square" lIns="0" tIns="0" rIns="0" bIns="0" rtlCol="0" anchor="t"/>
          <a:lstStyle/>
          <a:p>
            <a:pPr indent="0" marL="0">
              <a:buNone/>
            </a:pPr>
            <a:r>
              <a:rPr lang="en-US" sz="1450" dirty="0">
                <a:solidFill>
                  <a:schemeClr val="tx1"/>
                </a:solidFill>
              </a:rPr>
              <a:t>Queens and crown princes get a RoyalTitleTenure instead. Before we separated the two, 925 queens were inferred to be monarchs.</a:t>
            </a:r>
            <a:endParaRPr lang="en-US" sz="1450" dirty="0"/>
          </a:p>
        </p:txBody>
      </p:sp>
      <p:sp>
        <p:nvSpPr>
          <p:cNvPr id="10" name="Text 7"/>
          <p:cNvSpPr txBox="1"/>
          <p:nvPr/>
        </p:nvSpPr>
        <p:spPr>
          <a:xfrm>
            <a:off x="6446520" y="1600200"/>
            <a:ext cx="512064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The 2025 reform</a:t>
            </a:r>
            <a:endParaRPr lang="en-US" sz="1800" dirty="0"/>
          </a:p>
        </p:txBody>
      </p:sp>
      <p:sp>
        <p:nvSpPr>
          <p:cNvPr id="11" name="Text 8"/>
          <p:cNvSpPr txBox="1"/>
          <p:nvPr/>
        </p:nvSpPr>
        <p:spPr>
          <a:xfrm>
            <a:off x="6446520" y="2103120"/>
            <a:ext cx="5120640" cy="34747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chemeClr val="tx1"/>
                </a:solidFill>
              </a:rPr>
              <a:t>The level is a value: </a:t>
            </a:r>
            <a:pPr indent="0" marL="0">
              <a:spcAft>
                <a:spcPts val="900"/>
              </a:spcAft>
              <a:buNone/>
            </a:pPr>
            <a:r>
              <a:rPr lang="en-US" sz="1450" dirty="0">
                <a:solidFill>
                  <a:schemeClr val="tx1"/>
                </a:solidFill>
                <a:latin typeface="Cambria Math" pitchFamily="34" charset="0"/>
                <a:ea typeface="Cambria Math" pitchFamily="34" charset="-122"/>
                <a:cs typeface="Cambria Math" pitchFamily="34" charset="-120"/>
              </a:rPr>
              <a:t>FirstLevelUnit ≡ AdministrativeUnit ⊓ ∋adminLevel.{1}</a:t>
            </a:r>
            <a:endParaRPr lang="en-US" sz="1450" dirty="0"/>
          </a:p>
          <a:p>
            <a:pPr marL="228600" indent="-228600">
              <a:spcAft>
                <a:spcPts val="900"/>
              </a:spcAft>
              <a:buSzPct val="100000"/>
              <a:buChar char="•"/>
            </a:pPr>
            <a:r>
              <a:rPr lang="en-US" sz="1450" dirty="0">
                <a:solidFill>
                  <a:schemeClr val="tx1"/>
                </a:solidFill>
              </a:rPr>
              <a:t>34 provinces after the merger; communes, wards and special zones are level 3.</a:t>
            </a:r>
            <a:endParaRPr lang="en-US" sz="1450" dirty="0"/>
          </a:p>
          <a:p>
            <a:pPr marL="228600" indent="-228600">
              <a:spcAft>
                <a:spcPts val="900"/>
              </a:spcAft>
              <a:buSzPct val="100000"/>
              <a:buChar char="•"/>
            </a:pPr>
            <a:r>
              <a:rPr lang="en-US" sz="1450" dirty="0">
                <a:solidFill>
                  <a:schemeClr val="tx1"/>
                </a:solidFill>
              </a:rPr>
              <a:t>Districts were abolished on 1 July 2025: </a:t>
            </a:r>
            <a:pPr indent="0" marL="0">
              <a:spcAft>
                <a:spcPts val="900"/>
              </a:spcAft>
              <a:buNone/>
            </a:pPr>
            <a:r>
              <a:rPr lang="en-US" sz="1450" dirty="0">
                <a:solidFill>
                  <a:schemeClr val="tx1"/>
                </a:solidFill>
                <a:latin typeface="Cambria Math" pitchFamily="34" charset="0"/>
                <a:ea typeface="Cambria Math" pitchFamily="34" charset="-122"/>
                <a:cs typeface="Cambria Math" pitchFamily="34" charset="-120"/>
              </a:rPr>
              <a:t>SecondLevelUnit ⊑ HistoricalAdministrativeUnit</a:t>
            </a:r>
            <a:endParaRPr lang="en-US" sz="1450" dirty="0"/>
          </a:p>
          <a:p>
            <a:pPr marL="228600" indent="-228600">
              <a:spcAft>
                <a:spcPts val="900"/>
              </a:spcAft>
              <a:buSzPct val="100000"/>
              <a:buChar char="•"/>
            </a:pPr>
            <a:r>
              <a:rPr lang="en-US" sz="1450" dirty="0">
                <a:solidFill>
                  <a:schemeClr val="tx1"/>
                </a:solidFill>
              </a:rPr>
              <a:t>hasKey(adminCode) found 19 new communes that reuse an old commune’s code.</a:t>
            </a:r>
            <a:endParaRPr lang="en-US" sz="14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2 · Ontology design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Example: Trần Nhân Tông</a:t>
            </a:r>
            <a:endParaRPr lang="en-US" sz="2900" dirty="0"/>
          </a:p>
        </p:txBody>
      </p:sp>
      <p:pic>
        <p:nvPicPr>
          <p:cNvPr id="5" name="Image 0" descr="Asserted and inferred facts about Trần Nhân Tông">    </p:cNvPr>
          <p:cNvPicPr>
            <a:picLocks noChangeAspect="1"/>
          </p:cNvPicPr>
          <p:nvPr/>
        </p:nvPicPr>
        <p:blipFill>
          <a:blip r:embed="rId1"/>
          <a:stretch>
            <a:fillRect/>
          </a:stretch>
        </p:blipFill>
        <p:spPr>
          <a:xfrm>
            <a:off x="640080" y="1463040"/>
            <a:ext cx="7863840" cy="3383280"/>
          </a:xfrm>
          <a:prstGeom prst="rect">
            <a:avLst/>
          </a:prstGeom>
        </p:spPr>
      </p:pic>
      <p:sp>
        <p:nvSpPr>
          <p:cNvPr id="6" name="Text 2"/>
          <p:cNvSpPr txBox="1"/>
          <p:nvPr/>
        </p:nvSpPr>
        <p:spPr>
          <a:xfrm>
            <a:off x="8869680" y="1737360"/>
            <a:ext cx="2697480" cy="2743200"/>
          </a:xfrm>
          <a:prstGeom prst="rect">
            <a:avLst/>
          </a:prstGeom>
          <a:noFill/>
          <a:ln/>
        </p:spPr>
        <p:txBody>
          <a:bodyPr wrap="square" lIns="0" tIns="0" rIns="0" bIns="0" rtlCol="0" anchor="t"/>
          <a:lstStyle/>
          <a:p>
            <a:pPr indent="0" marL="0">
              <a:buNone/>
            </a:pPr>
            <a:r>
              <a:rPr lang="en-US" sz="1500" dirty="0">
                <a:solidFill>
                  <a:schemeClr val="tx1"/>
                </a:solidFill>
              </a:rPr>
              <a:t>Grey: from the infobox.</a:t>
            </a:r>
            <a:endParaRPr lang="en-US" sz="1500" dirty="0"/>
          </a:p>
          <a:p>
            <a:pPr indent="0" marL="0">
              <a:buNone/>
            </a:pPr>
            <a:r>
              <a:rPr lang="en-US" sz="1500" dirty="0">
                <a:solidFill>
                  <a:schemeClr val="tx1"/>
                </a:solidFill>
              </a:rPr>
              <a:t>Red dashed: inferred.</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chemeClr val="tx1"/>
                </a:solidFill>
              </a:rPr>
              <a:t>On the full data he has 53 extracted triples and 158 inferred ones.</a:t>
            </a:r>
            <a:endParaRPr lang="en-US" sz="1500" dirty="0"/>
          </a:p>
        </p:txBody>
      </p:sp>
      <p:sp>
        <p:nvSpPr>
          <p:cNvPr id="7" name="terminal"/>
          <p:cNvSpPr/>
          <p:nvPr/>
        </p:nvSpPr>
        <p:spPr>
          <a:xfrm>
            <a:off x="640080" y="4937760"/>
            <a:ext cx="10927080" cy="1325880"/>
          </a:xfrm>
          <a:prstGeom prst="rect">
            <a:avLst/>
          </a:prstGeom>
          <a:solidFill>
            <a:srgbClr val="1F1F1F"/>
          </a:solidFill>
          <a:ln w="9525">
            <a:solidFill>
              <a:srgbClr val="1F1F1F"/>
            </a:solidFill>
            <a:prstDash val="solid"/>
          </a:ln>
        </p:spPr>
      </p:sp>
      <p:sp>
        <p:nvSpPr>
          <p:cNvPr id="8" name="Text 4"/>
          <p:cNvSpPr txBox="1"/>
          <p:nvPr/>
        </p:nvSpPr>
        <p:spPr>
          <a:xfrm>
            <a:off x="822960" y="5065776"/>
            <a:ext cx="10607040" cy="1097280"/>
          </a:xfrm>
          <a:prstGeom prst="rect">
            <a:avLst/>
          </a:prstGeom>
          <a:noFill/>
          <a:ln/>
        </p:spPr>
        <p:txBody>
          <a:bodyPr wrap="square" lIns="0" tIns="0" rIns="0" bIns="0" rtlCol="0" anchor="t"/>
          <a:lstStyle/>
          <a:p>
            <a:pPr indent="0" marL="0">
              <a:buNone/>
            </a:pPr>
            <a:r>
              <a:rPr lang="en-US" sz="1150" dirty="0">
                <a:solidFill>
                  <a:srgbClr val="E8E8E8"/>
                </a:solidFill>
                <a:latin typeface="Consolas" pitchFamily="34" charset="0"/>
                <a:ea typeface="Consolas" pitchFamily="34" charset="-122"/>
                <a:cs typeface="Consolas" pitchFamily="34" charset="-120"/>
              </a:rPr>
              <a:t>$ python tests/test_hermit.py      # HermiT on a sample of the Trần dynasty</a:t>
            </a:r>
            <a:endParaRPr lang="en-US" sz="1150" dirty="0"/>
          </a:p>
          <a:p>
            <a:pPr indent="0" marL="0">
              <a:buNone/>
            </a:pPr>
            <a:r>
              <a:rPr lang="en-US" sz="1150" dirty="0">
                <a:solidFill>
                  <a:srgbClr val="9BD49B"/>
                </a:solidFill>
                <a:latin typeface="Consolas" pitchFamily="34" charset="0"/>
                <a:ea typeface="Consolas" pitchFamily="34" charset="-122"/>
                <a:cs typeface="Consolas" pitchFamily="34" charset="-120"/>
              </a:rPr>
              <a:t>OK  Tran_Nhan_Tong: ['MonarchWarrior', 'Person', 'RoyalChild', 'VietnameseMonarch']</a:t>
            </a:r>
            <a:endParaRPr lang="en-US" sz="1150" dirty="0"/>
          </a:p>
          <a:p>
            <a:pPr indent="0" marL="0">
              <a:buNone/>
            </a:pPr>
            <a:r>
              <a:rPr lang="en-US" sz="1150" dirty="0">
                <a:solidFill>
                  <a:srgbClr val="9BD49B"/>
                </a:solidFill>
                <a:latin typeface="Consolas" pitchFamily="34" charset="0"/>
                <a:ea typeface="Consolas" pitchFamily="34" charset="-122"/>
                <a:cs typeface="Consolas" pitchFamily="34" charset="-120"/>
              </a:rPr>
              <a:t>OK  Tran_Nhan_Tong hasPaternalGrandfather -&gt; ['Tran_Thai_Tong']</a:t>
            </a:r>
            <a:endParaRPr lang="en-US" sz="1150" dirty="0"/>
          </a:p>
          <a:p>
            <a:pPr indent="0" marL="0">
              <a:buNone/>
            </a:pPr>
            <a:r>
              <a:rPr lang="en-US" sz="1150" dirty="0">
                <a:solidFill>
                  <a:srgbClr val="9BD49B"/>
                </a:solidFill>
                <a:latin typeface="Consolas" pitchFamily="34" charset="0"/>
                <a:ea typeface="Consolas" pitchFamily="34" charset="-122"/>
                <a:cs typeface="Consolas" pitchFamily="34" charset="-120"/>
              </a:rPr>
              <a:t>OK  Tran_Nhan_Tong participatedIn -&gt; ['Chien_tranh_Nguyen_Mong-Dai_Viet_lan_3']</a:t>
            </a:r>
            <a:endParaRPr lang="en-US" sz="1150" dirty="0"/>
          </a:p>
          <a:p>
            <a:pPr indent="0" marL="0">
              <a:buNone/>
            </a:pPr>
            <a:r>
              <a:rPr lang="en-US" sz="1150" dirty="0">
                <a:solidFill>
                  <a:srgbClr val="9BD49B"/>
                </a:solidFill>
                <a:latin typeface="Consolas" pitchFamily="34" charset="0"/>
                <a:ea typeface="Consolas" pitchFamily="34" charset="-122"/>
                <a:cs typeface="Consolas" pitchFamily="34" charset="-120"/>
              </a:rPr>
              <a:t>unsatisfiable classes: []</a:t>
            </a:r>
            <a:endParaRPr lang="en-US" sz="1150" dirty="0"/>
          </a:p>
          <a:p>
            <a:pPr indent="0" marL="0">
              <a:buNone/>
            </a:pPr>
            <a:r>
              <a:rPr lang="en-US" sz="1150" dirty="0">
                <a:solidFill>
                  <a:srgbClr val="9BD49B"/>
                </a:solidFill>
                <a:latin typeface="Consolas" pitchFamily="34" charset="0"/>
                <a:ea typeface="Consolas" pitchFamily="34" charset="-122"/>
                <a:cs typeface="Consolas" pitchFamily="34" charset="-120"/>
              </a:rPr>
              <a:t>ALL PASSED</a:t>
            </a:r>
            <a:endParaRPr lang="en-US" sz="11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lIns="0" tIns="0" rIns="0" bIns="0" rtlCol="0" anchor="ctr"/>
          <a:lstStyle/>
          <a:p>
            <a:pPr algn="l" indent="0" marL="0">
              <a:buNone/>
            </a:pPr>
            <a:r>
              <a:rPr lang="en-US" sz="1800" b="1" spc="300" kern="0" dirty="0">
                <a:solidFill>
                  <a:srgbClr val="F4C3CB"/>
                </a:solidFill>
                <a:latin typeface="Calibri" pitchFamily="34" charset="0"/>
                <a:ea typeface="Calibri" pitchFamily="34" charset="-122"/>
                <a:cs typeface="Calibri" pitchFamily="34" charset="-120"/>
              </a:rPr>
              <a:t>PART 03</a:t>
            </a: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Extraction &amp;</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reasoning</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3 · Extraction and reasoning</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System pipeline</a:t>
            </a:r>
            <a:endParaRPr lang="en-US" sz="2900" dirty="0"/>
          </a:p>
        </p:txBody>
      </p:sp>
      <p:pic>
        <p:nvPicPr>
          <p:cNvPr id="5" name="Image 0" descr="Pipeline architecture">    </p:cNvPr>
          <p:cNvPicPr>
            <a:picLocks noChangeAspect="1"/>
          </p:cNvPicPr>
          <p:nvPr/>
        </p:nvPicPr>
        <p:blipFill>
          <a:blip r:embed="rId1"/>
          <a:stretch>
            <a:fillRect/>
          </a:stretch>
        </p:blipFill>
        <p:spPr>
          <a:xfrm>
            <a:off x="685800" y="1645920"/>
            <a:ext cx="10789920" cy="3931920"/>
          </a:xfrm>
          <a:prstGeom prst="rect">
            <a:avLst/>
          </a:prstGeom>
        </p:spPr>
      </p:pic>
      <p:sp>
        <p:nvSpPr>
          <p:cNvPr id="6" name="Text 2"/>
          <p:cNvSpPr txBox="1"/>
          <p:nvPr/>
        </p:nvSpPr>
        <p:spPr>
          <a:xfrm>
            <a:off x="640080" y="5806440"/>
            <a:ext cx="10927080" cy="365760"/>
          </a:xfrm>
          <a:prstGeom prst="rect">
            <a:avLst/>
          </a:prstGeom>
          <a:noFill/>
          <a:ln/>
        </p:spPr>
        <p:txBody>
          <a:bodyPr wrap="square" lIns="0" tIns="0" rIns="0" bIns="0" rtlCol="0" anchor="t"/>
          <a:lstStyle/>
          <a:p>
            <a:pPr algn="ctr" indent="0" marL="0">
              <a:buNone/>
            </a:pPr>
            <a:r>
              <a:rPr lang="en-US" sz="1400" dirty="0">
                <a:solidFill>
                  <a:schemeClr val="tx2"/>
                </a:solidFill>
              </a:rPr>
              <a:t>One command rebuilds everything: python run_pipeline.py (about 1.5 hours on a laptop).</a:t>
            </a:r>
            <a:endParaRPr lang="en-US" sz="14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3 · Extraction and reasoning</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Infobox extraction</a:t>
            </a:r>
            <a:endParaRPr lang="en-US" sz="2900" dirty="0"/>
          </a:p>
        </p:txBody>
      </p:sp>
      <p:sp>
        <p:nvSpPr>
          <p:cNvPr id="5" name="Text 2"/>
          <p:cNvSpPr txBox="1"/>
          <p:nvPr/>
        </p:nvSpPr>
        <p:spPr>
          <a:xfrm>
            <a:off x="640080" y="1554480"/>
            <a:ext cx="5120640" cy="292608"/>
          </a:xfrm>
          <a:prstGeom prst="rect">
            <a:avLst/>
          </a:prstGeom>
          <a:noFill/>
          <a:ln/>
        </p:spPr>
        <p:txBody>
          <a:bodyPr wrap="square" lIns="0" tIns="0" rIns="0" bIns="0" rtlCol="0" anchor="ctr"/>
          <a:lstStyle/>
          <a:p>
            <a:pPr indent="0" marL="0">
              <a:buNone/>
            </a:pPr>
            <a:r>
              <a:rPr lang="en-US" sz="1300" dirty="0">
                <a:solidFill>
                  <a:schemeClr val="tx2"/>
                </a:solidFill>
              </a:rPr>
              <a:t>Wiki-text in the dump (excerpt)</a:t>
            </a:r>
            <a:endParaRPr lang="en-US" sz="1300" dirty="0"/>
          </a:p>
        </p:txBody>
      </p:sp>
      <p:sp>
        <p:nvSpPr>
          <p:cNvPr id="6" name="code"/>
          <p:cNvSpPr/>
          <p:nvPr/>
        </p:nvSpPr>
        <p:spPr>
          <a:xfrm>
            <a:off x="640080" y="1874520"/>
            <a:ext cx="5120640" cy="2560320"/>
          </a:xfrm>
          <a:prstGeom prst="rect">
            <a:avLst/>
          </a:prstGeom>
          <a:solidFill>
            <a:schemeClr val="bg2"/>
          </a:solidFill>
          <a:ln w="9525">
            <a:solidFill>
              <a:schemeClr val="accent4"/>
            </a:solidFill>
            <a:prstDash val="solid"/>
          </a:ln>
        </p:spPr>
      </p:sp>
      <p:sp>
        <p:nvSpPr>
          <p:cNvPr id="7" name="Text 4"/>
          <p:cNvSpPr txBox="1"/>
          <p:nvPr/>
        </p:nvSpPr>
        <p:spPr>
          <a:xfrm>
            <a:off x="804672" y="2002536"/>
            <a:ext cx="4846320" cy="233172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{{Thông tin nhân vật hoàng gia</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tên        = Trần Nhân Tông</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chức vị    = [[Nhà Trần|Hoàng đế Đại Việt]]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tại vị     = [[8 tháng 11]] năm [[1278]]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[[16 tháng 4]] năm [[1293]]</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tiền nhiệm = [[Trần Thánh Tông]]</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cha        = [[Trần Thánh Tông]]</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sinh       = {{birth date|1258|12|7|df=y}}</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nơi sinh   = [[Thăng Long]]</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p:txBody>
      </p:sp>
      <p:sp>
        <p:nvSpPr>
          <p:cNvPr id="8" name="arrow"/>
          <p:cNvSpPr/>
          <p:nvPr/>
        </p:nvSpPr>
        <p:spPr>
          <a:xfrm>
            <a:off x="5897880" y="2926080"/>
            <a:ext cx="411480" cy="457200"/>
          </a:xfrm>
          <a:prstGeom prst="rightArrow">
            <a:avLst/>
          </a:prstGeom>
          <a:solidFill>
            <a:schemeClr val="accent1"/>
          </a:solidFill>
          <a:ln w="12700">
            <a:solidFill>
              <a:schemeClr val="accent1"/>
            </a:solidFill>
            <a:prstDash val="solid"/>
          </a:ln>
        </p:spPr>
      </p:sp>
      <p:sp>
        <p:nvSpPr>
          <p:cNvPr id="9" name="Text 6"/>
          <p:cNvSpPr txBox="1"/>
          <p:nvPr/>
        </p:nvSpPr>
        <p:spPr>
          <a:xfrm>
            <a:off x="6446520" y="1554480"/>
            <a:ext cx="5120640" cy="292608"/>
          </a:xfrm>
          <a:prstGeom prst="rect">
            <a:avLst/>
          </a:prstGeom>
          <a:noFill/>
          <a:ln/>
        </p:spPr>
        <p:txBody>
          <a:bodyPr wrap="square" lIns="0" tIns="0" rIns="0" bIns="0" rtlCol="0" anchor="ctr"/>
          <a:lstStyle/>
          <a:p>
            <a:pPr indent="0" marL="0">
              <a:buNone/>
            </a:pPr>
            <a:r>
              <a:rPr lang="en-US" sz="1300" dirty="0">
                <a:solidFill>
                  <a:schemeClr val="tx2"/>
                </a:solidFill>
              </a:rPr>
              <a:t>Turtle written by extract.py (excerpt)</a:t>
            </a:r>
            <a:endParaRPr lang="en-US" sz="1300" dirty="0"/>
          </a:p>
        </p:txBody>
      </p:sp>
      <p:sp>
        <p:nvSpPr>
          <p:cNvPr id="10" name="code"/>
          <p:cNvSpPr/>
          <p:nvPr/>
        </p:nvSpPr>
        <p:spPr>
          <a:xfrm>
            <a:off x="6446520" y="1874520"/>
            <a:ext cx="5120640" cy="2560320"/>
          </a:xfrm>
          <a:prstGeom prst="rect">
            <a:avLst/>
          </a:prstGeom>
          <a:solidFill>
            <a:schemeClr val="bg2"/>
          </a:solidFill>
          <a:ln w="9525">
            <a:solidFill>
              <a:schemeClr val="accent4"/>
            </a:solidFill>
            <a:prstDash val="solid"/>
          </a:ln>
        </p:spPr>
      </p:sp>
      <p:sp>
        <p:nvSpPr>
          <p:cNvPr id="11" name="Text 8"/>
          <p:cNvSpPr txBox="1"/>
          <p:nvPr/>
        </p:nvSpPr>
        <p:spPr>
          <a:xfrm>
            <a:off x="6611112" y="2002536"/>
            <a:ext cx="4846320" cy="233172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vidbr:Trần_Nhân_Tông</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vidbo:hasFather   vidbr:Trần_Thánh_Tông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vidbo:predecessor vidbr:Trần_Thánh_Tông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vidbo:birthDate   "1258-12-07"^^xsd:date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vidbo:birthPlace  vidbr:Thăng_Long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vidbo:hasReign    vidbr:Trần_Nhân_Tông__Reign_0 .</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vidbr:Trần_Nhân_Tông__Reign_0 a vidbo:Reign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vidbo:title "Hoàng đế Đại Việt"@vi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vidbo:startDate "1278-11-08"^^xsd:date .</a:t>
            </a:r>
            <a:endParaRPr lang="en-US" sz="1300" dirty="0"/>
          </a:p>
        </p:txBody>
      </p:sp>
      <p:sp>
        <p:nvSpPr>
          <p:cNvPr id="12" name="Text 9"/>
          <p:cNvSpPr txBox="1"/>
          <p:nvPr/>
        </p:nvSpPr>
        <p:spPr>
          <a:xfrm>
            <a:off x="640080" y="4754880"/>
            <a:ext cx="10927080" cy="731520"/>
          </a:xfrm>
          <a:prstGeom prst="rect">
            <a:avLst/>
          </a:prstGeom>
          <a:noFill/>
          <a:ln/>
        </p:spPr>
        <p:txBody>
          <a:bodyPr wrap="square" lIns="0" tIns="0" rIns="0" bIns="0" rtlCol="0" anchor="t"/>
          <a:lstStyle/>
          <a:p>
            <a:pPr indent="0" marL="0">
              <a:buNone/>
            </a:pPr>
            <a:r>
              <a:rPr lang="en-US" sz="1550" dirty="0">
                <a:solidFill>
                  <a:schemeClr val="tx1"/>
                </a:solidFill>
              </a:rPr>
              <a:t>The mappings are one YAML file (11 infobox groups, 100+ name variants). Parsers read Vietnamese dates, BCE years (“257 TCN”) and numbers (“4.412.264”), with 16 unit tests. In total: 44,003 articles, 1.51M triples.</a:t>
            </a:r>
            <a:endParaRPr lang="en-US" sz="15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3 · Extraction and reasoning</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Reasoning</a:t>
            </a:r>
            <a:endParaRPr lang="en-US" sz="2900" dirty="0"/>
          </a:p>
        </p:txBody>
      </p:sp>
      <p:sp>
        <p:nvSpPr>
          <p:cNvPr id="5" name="Text 2"/>
          <p:cNvSpPr txBox="1"/>
          <p:nvPr/>
        </p:nvSpPr>
        <p:spPr>
          <a:xfrm>
            <a:off x="640080" y="1645920"/>
            <a:ext cx="5120640" cy="4206240"/>
          </a:xfrm>
          <a:prstGeom prst="rect">
            <a:avLst/>
          </a:prstGeom>
          <a:noFill/>
          <a:ln/>
        </p:spPr>
        <p:txBody>
          <a:bodyPr wrap="square" lIns="0" tIns="0" rIns="0" bIns="0" rtlCol="0" anchor="t"/>
          <a:lstStyle/>
          <a:p>
            <a:pPr marL="228600" indent="-228600">
              <a:spcAft>
                <a:spcPts val="900"/>
              </a:spcAft>
              <a:buSzPct val="100000"/>
              <a:buChar char="•"/>
            </a:pPr>
            <a:r>
              <a:rPr lang="en-US" sz="1550" dirty="0">
                <a:solidFill>
                  <a:schemeClr val="tx1"/>
                </a:solidFill>
              </a:rPr>
              <a:t>We wrote a forward-chaining reasoner for the OWL 2 RL rules. It reads the axioms from vidbo.ttl, so changing the ontology changes the result without touching the code.</a:t>
            </a:r>
            <a:endParaRPr lang="en-US" sz="1550" dirty="0"/>
          </a:p>
          <a:p>
            <a:pPr marL="228600" indent="-228600">
              <a:spcAft>
                <a:spcPts val="900"/>
              </a:spcAft>
              <a:buSzPct val="100000"/>
              <a:buChar char="•"/>
            </a:pPr>
            <a:r>
              <a:rPr lang="en-US" sz="1550" dirty="0">
                <a:solidFill>
                  <a:schemeClr val="tx1"/>
                </a:solidFill>
              </a:rPr>
              <a:t>It reaches a fix-point after 26 rounds (about 15 minutes) with 2.64M inferred triples.</a:t>
            </a:r>
            <a:endParaRPr lang="en-US" sz="1550" dirty="0"/>
          </a:p>
          <a:p>
            <a:pPr marL="228600" indent="-228600">
              <a:spcAft>
                <a:spcPts val="900"/>
              </a:spcAft>
              <a:buSzPct val="100000"/>
              <a:buChar char="•"/>
            </a:pPr>
            <a:r>
              <a:rPr lang="en-US" sz="1550" dirty="0">
                <a:solidFill>
                  <a:schemeClr val="tx1"/>
                </a:solidFill>
              </a:rPr>
              <a:t>Six SPARQL rules add what OWL cannot express: siblings (x ≠ y), age at death, reign length, population density, reigns that overlap a war.</a:t>
            </a:r>
            <a:endParaRPr lang="en-US" sz="1550" dirty="0"/>
          </a:p>
          <a:p>
            <a:pPr marL="228600" indent="-228600">
              <a:spcAft>
                <a:spcPts val="900"/>
              </a:spcAft>
              <a:buSzPct val="100000"/>
              <a:buChar char="•"/>
            </a:pPr>
            <a:r>
              <a:rPr lang="en-US" sz="1550" dirty="0">
                <a:solidFill>
                  <a:schemeClr val="tx1"/>
                </a:solidFill>
              </a:rPr>
              <a:t>HermiT checks the ontology itself for consistency.</a:t>
            </a:r>
            <a:endParaRPr lang="en-US" sz="1550" dirty="0"/>
          </a:p>
        </p:txBody>
      </p:sp>
      <p:graphicFrame>
        <p:nvGraphicFramePr>
          <p:cNvPr id="6" name="Chart 0" descr=""/>
          <p:cNvGraphicFramePr/>
          <p:nvPr/>
        </p:nvGraphicFramePr>
        <p:xfrm>
          <a:off x="5989320" y="1554480"/>
          <a:ext cx="5623560" cy="42976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3 · Extraction and reasoning</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Data quality</a:t>
            </a:r>
            <a:endParaRPr lang="en-US" sz="2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27080" cy="914400"/>
        </p:xfrm>
        <a:graphic>
          <a:graphicData uri="http://schemas.openxmlformats.org/drawingml/2006/table">
            <a:tbl>
              <a:tblPr/>
              <a:tblGrid>
                <a:gridCol w="3108960"/>
                <a:gridCol w="1051560"/>
                <a:gridCol w="676656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Found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Range check at extraction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536</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predecessor of Lý Thái Tổ = Nhà Đinh (a dynasty, not a person)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Disjoint classes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145</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 “father” field linking to a country (Person ⊥ Place)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Cycles of transitive properties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857</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Shakespeare and Henry James influencing each other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Asymmetric hasParent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father and son swapped (Jesse Root Grant, Ulysses S. Grant)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Functional birthDate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two birth years for Alexandre de Rhodes (1591, 1593)</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hasKey(adminCode)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2025 communes reusing a dissolved commune’s code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SHACL (closed world)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Anna Freud: born 1985, died 1982 (should be 1895)</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Person ⊥ Tenure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17,841</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b="1" dirty="0">
                          <a:solidFill>
                            <a:srgbClr val="222222"/>
                          </a:solidFill>
                          <a:latin typeface="Calibri" pitchFamily="34" charset="0"/>
                          <a:ea typeface="Calibri" pitchFamily="34" charset="-122"/>
                          <a:cs typeface="Calibri" pitchFamily="34" charset="-120"/>
                        </a:rPr>
                        <a:t>our own bug: YAML read the mapping key on: as true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lIns="0" tIns="0" rIns="0" bIns="0" rtlCol="0" anchor="ctr"/>
          <a:lstStyle/>
          <a:p>
            <a:pPr algn="l" indent="0" marL="0">
              <a:buNone/>
            </a:pPr>
            <a:r>
              <a:rPr lang="en-US" sz="1800" b="1" spc="300" kern="0" dirty="0">
                <a:solidFill>
                  <a:srgbClr val="F4C3CB"/>
                </a:solidFill>
                <a:latin typeface="Calibri" pitchFamily="34" charset="0"/>
                <a:ea typeface="Calibri" pitchFamily="34" charset="-122"/>
                <a:cs typeface="Calibri" pitchFamily="34" charset="-120"/>
              </a:rPr>
              <a:t>PART 04</a:t>
            </a: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Linking &amp;</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endpoint</a:t>
            </a:r>
            <a:endParaRPr lang="en-US" sz="3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4 · Linking and endpoint</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Linking to DBpedia</a:t>
            </a:r>
            <a:endParaRPr lang="en-US" sz="2900" dirty="0"/>
          </a:p>
        </p:txBody>
      </p:sp>
      <p:graphicFrame>
        <p:nvGraphicFramePr>
          <p:cNvPr id="5" name="Chart 0" descr=""/>
          <p:cNvGraphicFramePr/>
          <p:nvPr/>
        </p:nvGraphicFramePr>
        <p:xfrm>
          <a:off x="548640" y="1508760"/>
          <a:ext cx="5852160" cy="32461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40080" y="4892040"/>
            <a:ext cx="5760720" cy="11887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chemeClr val="tx1"/>
                </a:solidFill>
              </a:rPr>
              <a:t>Stage 1: 33,278 interlanguage links, each checked on dbpedia.org; 32,136 kept.</a:t>
            </a:r>
            <a:endParaRPr lang="en-US" sz="1450" dirty="0"/>
          </a:p>
          <a:p>
            <a:pPr marL="228600" indent="-228600">
              <a:spcAft>
                <a:spcPts val="900"/>
              </a:spcAft>
              <a:buSzPct val="100000"/>
              <a:buChar char="•"/>
            </a:pPr>
            <a:r>
              <a:rPr lang="en-US" sz="1450" dirty="0">
                <a:solidFill>
                  <a:schemeClr val="tx1"/>
                </a:solidFill>
              </a:rPr>
              <a:t>Stage 2: a Silk-style matcher (label, type, year) for 10,930 entities without a link; 329 accepted.</a:t>
            </a:r>
            <a:endParaRPr lang="en-US" sz="1450" dirty="0"/>
          </a:p>
        </p:txBody>
      </p:sp>
      <p:sp>
        <p:nvSpPr>
          <p:cNvPr id="7" name="Text 3"/>
          <p:cNvSpPr txBox="1"/>
          <p:nvPr/>
        </p:nvSpPr>
        <p:spPr>
          <a:xfrm>
            <a:off x="6766560" y="1600200"/>
            <a:ext cx="4800600" cy="292608"/>
          </a:xfrm>
          <a:prstGeom prst="rect">
            <a:avLst/>
          </a:prstGeom>
          <a:noFill/>
          <a:ln/>
        </p:spPr>
        <p:txBody>
          <a:bodyPr wrap="square" lIns="0" tIns="0" rIns="0" bIns="0" rtlCol="0" anchor="ctr"/>
          <a:lstStyle/>
          <a:p>
            <a:pPr indent="0" marL="0">
              <a:buNone/>
            </a:pPr>
            <a:r>
              <a:rPr lang="en-US" sz="1300" dirty="0">
                <a:solidFill>
                  <a:schemeClr val="tx2"/>
                </a:solidFill>
              </a:rPr>
              <a:t>Matcher on 1,500 pairs with a known answer</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766560" y="1920240"/>
          <a:ext cx="4800600" cy="914400"/>
        </p:xfrm>
        <a:graphic>
          <a:graphicData uri="http://schemas.openxmlformats.org/drawingml/2006/table">
            <a:tbl>
              <a:tblPr/>
              <a:tblGrid>
                <a:gridCol w="1600200"/>
                <a:gridCol w="1600200"/>
                <a:gridCol w="1600200"/>
              </a:tblGrid>
              <a:tr h="438912">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Precision</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Recall</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F1</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438912">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96.4%</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48.5%</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0.65</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4"/>
          <p:cNvSpPr txBox="1"/>
          <p:nvPr/>
        </p:nvSpPr>
        <p:spPr>
          <a:xfrm>
            <a:off x="6766560" y="3108960"/>
            <a:ext cx="4800600" cy="292608"/>
          </a:xfrm>
          <a:prstGeom prst="rect">
            <a:avLst/>
          </a:prstGeom>
          <a:noFill/>
          <a:ln/>
        </p:spPr>
        <p:txBody>
          <a:bodyPr wrap="square" lIns="0" tIns="0" rIns="0" bIns="0" rtlCol="0" anchor="ctr"/>
          <a:lstStyle/>
          <a:p>
            <a:pPr indent="0" marL="0">
              <a:buNone/>
            </a:pPr>
            <a:r>
              <a:rPr lang="en-US" sz="1300" dirty="0">
                <a:solidFill>
                  <a:schemeClr val="tx2"/>
                </a:solidFill>
              </a:rPr>
              <a:t>Two of its 27 wrong matches</a:t>
            </a:r>
            <a:endParaRPr lang="en-US" sz="13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766560" y="3429000"/>
          <a:ext cx="4800600" cy="914400"/>
        </p:xfrm>
        <a:graphic>
          <a:graphicData uri="http://schemas.openxmlformats.org/drawingml/2006/table">
            <a:tbl>
              <a:tblPr/>
              <a:tblGrid>
                <a:gridCol w="1280160"/>
                <a:gridCol w="1600200"/>
                <a:gridCol w="1920240"/>
              </a:tblGrid>
              <a:tr h="402336">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Our entity</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Matched</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Correct</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402336">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Trà Cú (huyện)</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dbr:Trà_Cú</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dbr:Trà_Cú_district</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Mannert L. Abele</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dbr:Mannert_L._Abele</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dbr:USS_Mannert_L._Abele</a:t>
                      </a:r>
                      <a:endParaRPr lang="en-US" sz="11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11" name="Text 5"/>
          <p:cNvSpPr txBox="1"/>
          <p:nvPr/>
        </p:nvSpPr>
        <p:spPr>
          <a:xfrm>
            <a:off x="6766560" y="4892040"/>
            <a:ext cx="4800600" cy="822960"/>
          </a:xfrm>
          <a:prstGeom prst="rect">
            <a:avLst/>
          </a:prstGeom>
          <a:noFill/>
          <a:ln/>
        </p:spPr>
        <p:txBody>
          <a:bodyPr wrap="square" lIns="0" tIns="0" rIns="0" bIns="0" rtlCol="0" anchor="t"/>
          <a:lstStyle/>
          <a:p>
            <a:pPr indent="0" marL="0">
              <a:buNone/>
            </a:pPr>
            <a:r>
              <a:rPr lang="en-US" sz="1450" dirty="0">
                <a:solidFill>
                  <a:schemeClr val="tx1"/>
                </a:solidFill>
              </a:rPr>
              <a:t>We keep precision high on purpose: a wrong owl:sameAs imports every fact of the other entity.</a:t>
            </a:r>
            <a:endParaRPr lang="en-US" sz="14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4 · Linking and endpoint</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Endpoint and interfaces</a:t>
            </a:r>
            <a:endParaRPr lang="en-US" sz="2900" dirty="0"/>
          </a:p>
        </p:txBody>
      </p:sp>
      <p:sp>
        <p:nvSpPr>
          <p:cNvPr id="5" name="box"/>
          <p:cNvSpPr/>
          <p:nvPr/>
        </p:nvSpPr>
        <p:spPr>
          <a:xfrm>
            <a:off x="640080" y="1600200"/>
            <a:ext cx="5349240" cy="3794760"/>
          </a:xfrm>
          <a:prstGeom prst="rect">
            <a:avLst/>
          </a:prstGeom>
          <a:solidFill>
            <a:schemeClr val="bg2"/>
          </a:solidFill>
          <a:ln w="9525">
            <a:solidFill>
              <a:schemeClr val="accent4"/>
            </a:solidFill>
            <a:prstDash val="solid"/>
          </a:ln>
        </p:spPr>
      </p:sp>
      <p:pic>
        <p:nvPicPr>
          <p:cNvPr id="6" name="Image 0" descr="Resource page of Trần Nhân Tông, with data / inferred / links badges">    </p:cNvPr>
          <p:cNvPicPr>
            <a:picLocks noChangeAspect="1"/>
          </p:cNvPicPr>
          <p:nvPr/>
        </p:nvPicPr>
        <p:blipFill>
          <a:blip r:embed="rId1"/>
          <a:stretch>
            <a:fillRect/>
          </a:stretch>
        </p:blipFill>
        <p:spPr>
          <a:xfrm>
            <a:off x="749808" y="1709928"/>
            <a:ext cx="5129784" cy="3429000"/>
          </a:xfrm>
          <a:prstGeom prst="rect">
            <a:avLst/>
          </a:prstGeom>
        </p:spPr>
      </p:pic>
      <p:sp>
        <p:nvSpPr>
          <p:cNvPr id="7" name="Text 3"/>
          <p:cNvSpPr txBox="1"/>
          <p:nvPr/>
        </p:nvSpPr>
        <p:spPr>
          <a:xfrm>
            <a:off x="640080" y="5486400"/>
            <a:ext cx="5349240" cy="320040"/>
          </a:xfrm>
          <a:prstGeom prst="rect">
            <a:avLst/>
          </a:prstGeom>
          <a:noFill/>
          <a:ln/>
        </p:spPr>
        <p:txBody>
          <a:bodyPr wrap="square" lIns="0" tIns="0" rIns="0" bIns="0" rtlCol="0" anchor="t"/>
          <a:lstStyle/>
          <a:p>
            <a:pPr algn="ctr" indent="0" marL="0">
              <a:buNone/>
            </a:pPr>
            <a:r>
              <a:rPr lang="en-US" sz="1300" dirty="0">
                <a:solidFill>
                  <a:schemeClr val="tx2"/>
                </a:solidFill>
              </a:rPr>
              <a:t>Resource page of Trần Nhân Tông, with data / inferred / links badges</a:t>
            </a:r>
            <a:endParaRPr lang="en-US" sz="1300" dirty="0"/>
          </a:p>
        </p:txBody>
      </p:sp>
      <p:sp>
        <p:nvSpPr>
          <p:cNvPr id="8" name="box"/>
          <p:cNvSpPr/>
          <p:nvPr/>
        </p:nvSpPr>
        <p:spPr>
          <a:xfrm>
            <a:off x="6217920" y="1600200"/>
            <a:ext cx="5349240" cy="3794760"/>
          </a:xfrm>
          <a:prstGeom prst="rect">
            <a:avLst/>
          </a:prstGeom>
          <a:solidFill>
            <a:schemeClr val="bg2"/>
          </a:solidFill>
          <a:ln w="9525">
            <a:solidFill>
              <a:schemeClr val="accent4"/>
            </a:solidFill>
            <a:prstDash val="solid"/>
          </a:ln>
        </p:spPr>
      </p:sp>
      <p:pic>
        <p:nvPicPr>
          <p:cNvPr id="9" name="Image 1" descr="SPARQL editor answering CQ5 in 105 ms">    </p:cNvPr>
          <p:cNvPicPr>
            <a:picLocks noChangeAspect="1"/>
          </p:cNvPicPr>
          <p:nvPr/>
        </p:nvPicPr>
        <p:blipFill>
          <a:blip r:embed="rId2"/>
          <a:stretch>
            <a:fillRect/>
          </a:stretch>
        </p:blipFill>
        <p:spPr>
          <a:xfrm>
            <a:off x="6327648" y="1709928"/>
            <a:ext cx="5129784" cy="3429000"/>
          </a:xfrm>
          <a:prstGeom prst="rect">
            <a:avLst/>
          </a:prstGeom>
        </p:spPr>
      </p:pic>
      <p:sp>
        <p:nvSpPr>
          <p:cNvPr id="10" name="Text 5"/>
          <p:cNvSpPr txBox="1"/>
          <p:nvPr/>
        </p:nvSpPr>
        <p:spPr>
          <a:xfrm>
            <a:off x="6217920" y="5486400"/>
            <a:ext cx="5349240" cy="320040"/>
          </a:xfrm>
          <a:prstGeom prst="rect">
            <a:avLst/>
          </a:prstGeom>
          <a:noFill/>
          <a:ln/>
        </p:spPr>
        <p:txBody>
          <a:bodyPr wrap="square" lIns="0" tIns="0" rIns="0" bIns="0" rtlCol="0" anchor="t"/>
          <a:lstStyle/>
          <a:p>
            <a:pPr algn="ctr" indent="0" marL="0">
              <a:buNone/>
            </a:pPr>
            <a:r>
              <a:rPr lang="en-US" sz="1300" dirty="0">
                <a:solidFill>
                  <a:schemeClr val="tx2"/>
                </a:solidFill>
              </a:rPr>
              <a:t>SPARQL editor answering CQ5 in 105 ms</a:t>
            </a:r>
            <a:endParaRPr lang="en-US" sz="1300" dirty="0"/>
          </a:p>
        </p:txBody>
      </p:sp>
      <p:sp>
        <p:nvSpPr>
          <p:cNvPr id="11" name="Text 6"/>
          <p:cNvSpPr txBox="1"/>
          <p:nvPr/>
        </p:nvSpPr>
        <p:spPr>
          <a:xfrm>
            <a:off x="640080" y="5897880"/>
            <a:ext cx="10927080" cy="365760"/>
          </a:xfrm>
          <a:prstGeom prst="rect">
            <a:avLst/>
          </a:prstGeom>
          <a:noFill/>
          <a:ln/>
        </p:spPr>
        <p:txBody>
          <a:bodyPr wrap="square" lIns="0" tIns="0" rIns="0" bIns="0" rtlCol="0" anchor="t"/>
          <a:lstStyle/>
          <a:p>
            <a:pPr algn="ctr" indent="0" marL="0">
              <a:buNone/>
            </a:pPr>
            <a:r>
              <a:rPr lang="en-US" sz="1350" dirty="0">
                <a:solidFill>
                  <a:schemeClr val="tx1"/>
                </a:solidFill>
              </a:rPr>
              <a:t>The same URI returns HTML to a browser and Turtle, RDF/XML or JSON-LD to a program (HTTP 303). Terminal: python src/query.py --cq 5</a:t>
            </a:r>
            <a:endParaRPr lang="en-US" sz="13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4 · Linking and endpoint</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5-star Linked Data</a:t>
            </a:r>
            <a:endParaRPr lang="en-US" sz="2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27080" cy="914400"/>
        </p:xfrm>
        <a:graphic>
          <a:graphicData uri="http://schemas.openxmlformats.org/drawingml/2006/table">
            <a:tbl>
              <a:tblPr/>
              <a:tblGrid>
                <a:gridCol w="1463040"/>
                <a:gridCol w="3200400"/>
                <a:gridCol w="6263640"/>
              </a:tblGrid>
              <a:tr h="47548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Stars</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Requirement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ViDBpedia</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640080">
                <a:tc>
                  <a:txBody>
                    <a:bodyPr/>
                    <a:lstStyle/>
                    <a:p>
                      <a:pPr indent="0" marL="0">
                        <a:buNone/>
                      </a:pPr>
                      <a:r>
                        <a:rPr lang="en-US" sz="1500" b="1" dirty="0">
                          <a:solidFill>
                            <a:srgbClr val="C0203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on the web, open licence</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CC BY-SA 4.0, the same as Wikipedia</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40080">
                <a:tc>
                  <a:txBody>
                    <a:bodyPr/>
                    <a:lstStyle/>
                    <a:p>
                      <a:pPr indent="0" marL="0">
                        <a:buNone/>
                      </a:pPr>
                      <a:r>
                        <a:rPr lang="en-US" sz="1500" b="1" dirty="0">
                          <a:solidFill>
                            <a:srgbClr val="C0203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machine-readable</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RDF instead of wiki-text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640080">
                <a:tc>
                  <a:txBody>
                    <a:bodyPr/>
                    <a:lstStyle/>
                    <a:p>
                      <a:pPr indent="0" marL="0">
                        <a:buNone/>
                      </a:pPr>
                      <a:r>
                        <a:rPr lang="en-US" sz="1500" b="1" dirty="0">
                          <a:solidFill>
                            <a:srgbClr val="C0203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non-proprietary format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Turtle, N-Triples, RDF/XML, JSON-LD</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40080">
                <a:tc>
                  <a:txBody>
                    <a:bodyPr/>
                    <a:lstStyle/>
                    <a:p>
                      <a:pPr indent="0" marL="0">
                        <a:buNone/>
                      </a:pPr>
                      <a:r>
                        <a:rPr lang="en-US" sz="1500" b="1" dirty="0">
                          <a:solidFill>
                            <a:srgbClr val="C0203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URIs and W3C standards</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every resource URI resolves; SPARQL 1.1 endpoint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640080">
                <a:tc>
                  <a:txBody>
                    <a:bodyPr/>
                    <a:lstStyle/>
                    <a:p>
                      <a:pPr indent="0" marL="0">
                        <a:buNone/>
                      </a:pPr>
                      <a:r>
                        <a:rPr lang="en-US" sz="1500" b="1" dirty="0">
                          <a:solidFill>
                            <a:srgbClr val="C0203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linked to other data</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222222"/>
                          </a:solidFill>
                          <a:latin typeface="Calibri" pitchFamily="34" charset="0"/>
                          <a:ea typeface="Calibri" pitchFamily="34" charset="-122"/>
                          <a:cs typeface="Calibri" pitchFamily="34" charset="-120"/>
                        </a:rPr>
                        <a:t>32,465 links to DBpedia, 43,145 to Wikidata; ontology aligned with dbo, FOAF, schema.org</a:t>
                      </a:r>
                      <a:endParaRPr lang="en-US" sz="15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1097280" y="2286000"/>
            <a:ext cx="5486400" cy="457200"/>
          </a:xfrm>
          <a:prstGeom prst="rect">
            <a:avLst/>
          </a:prstGeom>
          <a:noFill/>
          <a:ln/>
        </p:spPr>
        <p:txBody>
          <a:bodyPr wrap="square" lIns="0" tIns="0" rIns="0" bIns="0" rtlCol="0" anchor="ctr"/>
          <a:lstStyle/>
          <a:p>
            <a:pPr algn="l" indent="0" marL="0">
              <a:buNone/>
            </a:pPr>
            <a:r>
              <a:rPr lang="en-US" sz="1800" b="1" spc="300" kern="0" dirty="0">
                <a:solidFill>
                  <a:srgbClr val="F4C3CB"/>
                </a:solidFill>
                <a:latin typeface="Calibri" pitchFamily="34" charset="0"/>
                <a:ea typeface="Calibri" pitchFamily="34" charset="-122"/>
                <a:cs typeface="Calibri" pitchFamily="34" charset="-120"/>
              </a:rPr>
              <a:t>PART 05</a:t>
            </a:r>
            <a:endParaRPr lang="en-US" sz="1800" dirty="0"/>
          </a:p>
        </p:txBody>
      </p:sp>
      <p:sp>
        <p:nvSpPr>
          <p:cNvPr id="3" name="Text 0"/>
          <p:cNvSpPr/>
          <p:nvPr>
            <p:ph idx="101" type="title" hasCustomPrompt="1"/>
          </p:nvPr>
        </p:nvSpPr>
        <p:spPr>
          <a:xfrm>
            <a:off x="1097280" y="2743200"/>
            <a:ext cx="8595360" cy="14630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Evaluation &amp;</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conclusion</a:t>
            </a:r>
            <a:endParaRPr lang="en-US" sz="3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5 · Evaluation and conclusion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Evaluation</a:t>
            </a:r>
            <a:endParaRPr lang="en-US" sz="2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6446520" cy="914400"/>
        </p:xfrm>
        <a:graphic>
          <a:graphicData uri="http://schemas.openxmlformats.org/drawingml/2006/table">
            <a:tbl>
              <a:tblPr/>
              <a:tblGrid>
                <a:gridCol w="685800"/>
                <a:gridCol w="3246120"/>
                <a:gridCol w="1874520"/>
                <a:gridCol w="640080"/>
              </a:tblGrid>
              <a:tr h="45720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CQ</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Answered by</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Rows</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CQ2</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Trần Nhân Tông’s paternal grandfather</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property chain</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CQ4</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Monarchs who commanded battles</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defined classes</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89</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CQ5</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Participants of the Mongol–Đại Việt war</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chain + transitivity</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CQ8</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People born in today’s Nghệ An</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chain + transitivity</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264</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CQ9</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Provinces after the 2025 merger</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hasValue + rule</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CQ10</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Monarchs reigning while their dynasty was at war</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temporal rule</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166</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457200">
                <a:tc>
                  <a:txBody>
                    <a:bodyPr/>
                    <a:lstStyle/>
                    <a:p>
                      <a:pPr indent="0" marL="0">
                        <a:buNone/>
                      </a:pPr>
                      <a:r>
                        <a:rPr lang="en-US" sz="1300" b="1" dirty="0">
                          <a:solidFill>
                            <a:srgbClr val="C02034"/>
                          </a:solidFill>
                          <a:latin typeface="Calibri" pitchFamily="34" charset="0"/>
                          <a:ea typeface="Calibri" pitchFamily="34" charset="-122"/>
                          <a:cs typeface="Calibri" pitchFamily="34" charset="-120"/>
                        </a:rPr>
                        <a:t>CQ13</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English descriptions from DBpedia</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owl:sameAs + SERVICE</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7360920" y="1600200"/>
            <a:ext cx="4206240" cy="292608"/>
          </a:xfrm>
          <a:prstGeom prst="rect">
            <a:avLst/>
          </a:prstGeom>
          <a:noFill/>
          <a:ln/>
        </p:spPr>
        <p:txBody>
          <a:bodyPr wrap="square" lIns="0" tIns="0" rIns="0" bIns="0" rtlCol="0" anchor="ctr"/>
          <a:lstStyle/>
          <a:p>
            <a:pPr indent="0" marL="0">
              <a:buNone/>
            </a:pPr>
            <a:r>
              <a:rPr lang="en-US" sz="1300" dirty="0">
                <a:solidFill>
                  <a:schemeClr val="tx2"/>
                </a:solidFill>
              </a:rPr>
              <a:t>CQ8 as it runs on the endpoint</a:t>
            </a:r>
            <a:endParaRPr lang="en-US" sz="1300" dirty="0"/>
          </a:p>
        </p:txBody>
      </p:sp>
      <p:sp>
        <p:nvSpPr>
          <p:cNvPr id="7" name="code"/>
          <p:cNvSpPr/>
          <p:nvPr/>
        </p:nvSpPr>
        <p:spPr>
          <a:xfrm>
            <a:off x="7360920" y="1920240"/>
            <a:ext cx="4206240" cy="2103120"/>
          </a:xfrm>
          <a:prstGeom prst="rect">
            <a:avLst/>
          </a:prstGeom>
          <a:solidFill>
            <a:schemeClr val="bg2"/>
          </a:solidFill>
          <a:ln w="9525">
            <a:solidFill>
              <a:schemeClr val="accent4"/>
            </a:solidFill>
            <a:prstDash val="solid"/>
          </a:ln>
        </p:spPr>
      </p:sp>
      <p:sp>
        <p:nvSpPr>
          <p:cNvPr id="8" name="Text 4"/>
          <p:cNvSpPr txBox="1"/>
          <p:nvPr/>
        </p:nvSpPr>
        <p:spPr>
          <a:xfrm>
            <a:off x="7525512" y="2048256"/>
            <a:ext cx="3931920" cy="1874520"/>
          </a:xfrm>
          <a:prstGeom prst="rect">
            <a:avLst/>
          </a:prstGeom>
          <a:noFill/>
          <a:ln/>
        </p:spPr>
        <p:txBody>
          <a:bodyPr wrap="square" lIns="0" tIns="0" rIns="0" bIns="0" rtlCol="0" anchor="t"/>
          <a:lstStyle/>
          <a:p>
            <a:pPr indent="0" marL="0">
              <a:buNone/>
            </a:pPr>
            <a:r>
              <a:rPr lang="en-US" sz="1150" dirty="0">
                <a:solidFill>
                  <a:schemeClr val="tx1"/>
                </a:solidFill>
                <a:latin typeface="Consolas" pitchFamily="34" charset="0"/>
                <a:ea typeface="Consolas" pitchFamily="34" charset="-122"/>
                <a:cs typeface="Consolas" pitchFamily="34" charset="-120"/>
              </a:rPr>
              <a:t>SELECT ?person ?label ?birthYear</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WHERE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?person vidbo:bornWithin</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vidbr:Nghệ_An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rdfs:label ?label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OPTIONAL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?person vidbo:birthYear ?birthYear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ORDER BY ?birthYear</a:t>
            </a:r>
            <a:endParaRPr lang="en-US" sz="1150" dirty="0"/>
          </a:p>
        </p:txBody>
      </p:sp>
      <p:sp>
        <p:nvSpPr>
          <p:cNvPr id="9" name="Text 5"/>
          <p:cNvSpPr txBox="1"/>
          <p:nvPr/>
        </p:nvSpPr>
        <p:spPr>
          <a:xfrm>
            <a:off x="7360920" y="4160520"/>
            <a:ext cx="4206240" cy="822960"/>
          </a:xfrm>
          <a:prstGeom prst="rect">
            <a:avLst/>
          </a:prstGeom>
          <a:noFill/>
          <a:ln/>
        </p:spPr>
        <p:txBody>
          <a:bodyPr wrap="square" lIns="0" tIns="0" rIns="0" bIns="0" rtlCol="0" anchor="t"/>
          <a:lstStyle/>
          <a:p>
            <a:pPr indent="0" marL="0">
              <a:buNone/>
            </a:pPr>
            <a:r>
              <a:rPr lang="en-US" sz="1350" dirty="0">
                <a:solidFill>
                  <a:schemeClr val="tx2"/>
                </a:solidFill>
              </a:rPr>
              <a:t>264 rows in 116 ms. The query only names the province; the reasoner has already rolled communes and districts up to it.</a:t>
            </a:r>
            <a:endParaRPr lang="en-US" sz="1350" dirty="0"/>
          </a:p>
        </p:txBody>
      </p:sp>
      <p:sp>
        <p:nvSpPr>
          <p:cNvPr id="10" name="Text 6"/>
          <p:cNvSpPr txBox="1"/>
          <p:nvPr/>
        </p:nvSpPr>
        <p:spPr>
          <a:xfrm>
            <a:off x="640080" y="5440680"/>
            <a:ext cx="6446520" cy="365760"/>
          </a:xfrm>
          <a:prstGeom prst="rect">
            <a:avLst/>
          </a:prstGeom>
          <a:noFill/>
          <a:ln/>
        </p:spPr>
        <p:txBody>
          <a:bodyPr wrap="square" lIns="0" tIns="0" rIns="0" bIns="0" rtlCol="0" anchor="t"/>
          <a:lstStyle/>
          <a:p>
            <a:pPr indent="0" marL="0">
              <a:buNone/>
            </a:pPr>
            <a:r>
              <a:rPr lang="en-US" sz="1450" dirty="0">
                <a:solidFill>
                  <a:schemeClr val="tx1"/>
                </a:solidFill>
              </a:rPr>
              <a:t>All 18 competency questions return answers; median time 44 ms on the local Fuseki endpoint.</a:t>
            </a:r>
            <a:endParaRPr lang="en-US" sz="145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5 · Evaluation and conclusion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Lessons learned</a:t>
            </a:r>
            <a:endParaRPr lang="en-US" sz="2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27080" cy="914400"/>
        </p:xfrm>
        <a:graphic>
          <a:graphicData uri="http://schemas.openxmlformats.org/drawingml/2006/table">
            <a:tbl>
              <a:tblPr/>
              <a:tblGrid>
                <a:gridCol w="3383280"/>
                <a:gridCol w="4892040"/>
                <a:gridCol w="265176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we did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happened</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777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Declared predecessor as transitive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3.8M meaningless triples: predecessors from different offices were chained together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removed transitivity</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77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Gave posthumousName the domain Monarch</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925 queens and princes were inferred to be monarchs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domain changed to Person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777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Used the key on: in the YAML mapping</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YAML read it as true; 17,841 Person ⊥ Tenure violations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renamed the key to attach:</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77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Read the province list of region infoboxes as locatedIn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cycles: a border campaign ended up in a dozen provinces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read it as contains; check for cycles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6" name="Text 2"/>
          <p:cNvSpPr txBox="1"/>
          <p:nvPr/>
        </p:nvSpPr>
        <p:spPr>
          <a:xfrm>
            <a:off x="640080" y="5532120"/>
            <a:ext cx="10927080" cy="411480"/>
          </a:xfrm>
          <a:prstGeom prst="rect">
            <a:avLst/>
          </a:prstGeom>
          <a:noFill/>
          <a:ln/>
        </p:spPr>
        <p:txBody>
          <a:bodyPr wrap="square" lIns="0" tIns="0" rIns="0" bIns="0" rtlCol="0" anchor="t"/>
          <a:lstStyle/>
          <a:p>
            <a:pPr indent="0" marL="0">
              <a:buNone/>
            </a:pPr>
            <a:r>
              <a:rPr lang="en-US" sz="1500" dirty="0">
                <a:solidFill>
                  <a:schemeClr val="tx2"/>
                </a:solidFill>
              </a:rPr>
              <a:t>Most of these only became visible after reasoning: a wrong axiom is multiplied over the whole graph.</a:t>
            </a:r>
            <a:endParaRPr lang="en-US" sz="15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5 · Evaluation and conclusion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Conclusion</a:t>
            </a:r>
            <a:endParaRPr lang="en-US" sz="2900" dirty="0"/>
          </a:p>
        </p:txBody>
      </p:sp>
      <p:sp>
        <p:nvSpPr>
          <p:cNvPr id="5" name="Text 2"/>
          <p:cNvSpPr txBox="1"/>
          <p:nvPr/>
        </p:nvSpPr>
        <p:spPr>
          <a:xfrm>
            <a:off x="640080" y="1600200"/>
            <a:ext cx="5212080" cy="41148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What we built</a:t>
            </a:r>
            <a:endParaRPr lang="en-US" sz="1800" dirty="0"/>
          </a:p>
        </p:txBody>
      </p:sp>
      <p:sp>
        <p:nvSpPr>
          <p:cNvPr id="6" name="Text 3"/>
          <p:cNvSpPr txBox="1"/>
          <p:nvPr/>
        </p:nvSpPr>
        <p:spPr>
          <a:xfrm>
            <a:off x="640080" y="2148840"/>
            <a:ext cx="5212080" cy="35661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rPr>
              <a:t>A Vietnamese DBpedia for history, geography and notable people: 44,003 articles, 1.51M extracted triples.</a:t>
            </a:r>
            <a:endParaRPr lang="en-US" sz="1700" dirty="0"/>
          </a:p>
          <a:p>
            <a:pPr marL="228600" indent="-228600">
              <a:spcAft>
                <a:spcPts val="900"/>
              </a:spcAft>
              <a:buSzPct val="100000"/>
              <a:buChar char="•"/>
            </a:pPr>
            <a:r>
              <a:rPr lang="en-US" sz="1700" dirty="0">
                <a:solidFill>
                  <a:schemeClr val="tx1"/>
                </a:solidFill>
              </a:rPr>
              <a:t>An OWL 2 ontology whose axioms add 2.64M triples and answer all 18 competency questions.</a:t>
            </a:r>
            <a:endParaRPr lang="en-US" sz="1700" dirty="0"/>
          </a:p>
          <a:p>
            <a:pPr marL="228600" indent="-228600">
              <a:spcAft>
                <a:spcPts val="900"/>
              </a:spcAft>
              <a:buSzPct val="100000"/>
              <a:buChar char="•"/>
            </a:pPr>
            <a:r>
              <a:rPr lang="en-US" sz="1700" dirty="0">
                <a:solidFill>
                  <a:schemeClr val="tx1"/>
                </a:solidFill>
              </a:rPr>
              <a:t>Five-star data: 32,465 links to DBpedia at 96.4% precision, served by a SPARQL endpoint.</a:t>
            </a:r>
            <a:endParaRPr lang="en-US" sz="1700" dirty="0"/>
          </a:p>
        </p:txBody>
      </p:sp>
      <p:sp>
        <p:nvSpPr>
          <p:cNvPr id="7" name="divider"/>
          <p:cNvSpPr/>
          <p:nvPr/>
        </p:nvSpPr>
        <p:spPr>
          <a:xfrm>
            <a:off x="6108192" y="1691640"/>
            <a:ext cx="0" cy="3931920"/>
          </a:xfrm>
          <a:prstGeom prst="line">
            <a:avLst/>
          </a:prstGeom>
          <a:noFill/>
          <a:ln w="12700">
            <a:solidFill>
              <a:schemeClr val="accent4"/>
            </a:solidFill>
            <a:prstDash val="solid"/>
          </a:ln>
        </p:spPr>
      </p:sp>
      <p:sp>
        <p:nvSpPr>
          <p:cNvPr id="8" name="Text 5"/>
          <p:cNvSpPr txBox="1"/>
          <p:nvPr/>
        </p:nvSpPr>
        <p:spPr>
          <a:xfrm>
            <a:off x="6355080" y="1600200"/>
            <a:ext cx="5212080" cy="41148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Limitations and next steps</a:t>
            </a:r>
            <a:endParaRPr lang="en-US" sz="1800" dirty="0"/>
          </a:p>
        </p:txBody>
      </p:sp>
      <p:sp>
        <p:nvSpPr>
          <p:cNvPr id="9" name="Text 6"/>
          <p:cNvSpPr txBox="1"/>
          <p:nvPr/>
        </p:nvSpPr>
        <p:spPr>
          <a:xfrm>
            <a:off x="6355080" y="2148840"/>
            <a:ext cx="5212080" cy="35661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rPr>
              <a:t>Only 44k of 1.6M articles: extend the mappings to the whole Vietnamese Wikipedia.</a:t>
            </a:r>
            <a:endParaRPr lang="en-US" sz="1700" dirty="0"/>
          </a:p>
          <a:p>
            <a:pPr marL="228600" indent="-228600">
              <a:spcAft>
                <a:spcPts val="900"/>
              </a:spcAft>
              <a:buSzPct val="100000"/>
              <a:buChar char="•"/>
            </a:pPr>
            <a:r>
              <a:rPr lang="en-US" sz="1700" dirty="0">
                <a:solidFill>
                  <a:schemeClr val="tx1"/>
                </a:solidFill>
              </a:rPr>
              <a:t>Lunar dates and era names are kept as text.</a:t>
            </a:r>
            <a:endParaRPr lang="en-US" sz="1700" dirty="0"/>
          </a:p>
          <a:p>
            <a:pPr marL="228600" indent="-228600">
              <a:spcAft>
                <a:spcPts val="900"/>
              </a:spcAft>
              <a:buSzPct val="100000"/>
              <a:buChar char="•"/>
            </a:pPr>
            <a:r>
              <a:rPr lang="en-US" sz="1700" dirty="0">
                <a:solidFill>
                  <a:schemeClr val="tx1"/>
                </a:solidFill>
              </a:rPr>
              <a:t>Matcher recall is 48.5%: learn the linkage rule from the 1,500 known pairs.</a:t>
            </a:r>
            <a:endParaRPr lang="en-US" sz="1700" dirty="0"/>
          </a:p>
          <a:p>
            <a:pPr marL="228600" indent="-228600">
              <a:spcAft>
                <a:spcPts val="900"/>
              </a:spcAft>
              <a:buSzPct val="100000"/>
              <a:buChar char="•"/>
            </a:pPr>
            <a:r>
              <a:rPr lang="en-US" sz="1700" dirty="0">
                <a:solidFill>
                  <a:schemeClr val="tx1"/>
                </a:solidFill>
              </a:rPr>
              <a:t>The namespace vi.dbpedia.example.org is a placeholder.</a:t>
            </a:r>
            <a:endParaRPr lang="en-US" sz="17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2" type="body" hasCustomPrompt="1"/>
          </p:nvPr>
        </p:nvSpPr>
        <p:spPr>
          <a:xfrm>
            <a:off x="566928" y="384048"/>
            <a:ext cx="10058400" cy="274320"/>
          </a:xfrm>
          <a:prstGeom prst="rect">
            <a:avLst/>
          </a:prstGeom>
          <a:noFill/>
          <a:ln/>
        </p:spPr>
        <p:txBody>
          <a:bodyPr wrap="square" lIns="0" tIns="0" rIns="0" bIns="0" rtlCol="0" anchor="ctr"/>
          <a:lstStyle/>
          <a:p>
            <a:pPr algn="l" indent="0" marL="0">
              <a:buNone/>
            </a:pPr>
            <a:r>
              <a:rPr lang="en-US" sz="1300" dirty="0">
                <a:solidFill>
                  <a:srgbClr val="C02034"/>
                </a:solidFill>
                <a:latin typeface="Calibri" pitchFamily="34" charset="0"/>
                <a:ea typeface="Calibri" pitchFamily="34" charset="-122"/>
                <a:cs typeface="Calibri" pitchFamily="34" charset="-120"/>
              </a:rPr>
              <a:t>Part 5 · Evaluation and conclusion</a:t>
            </a:r>
            <a:endParaRPr lang="en-US" sz="1300" dirty="0"/>
          </a:p>
        </p:txBody>
      </p:sp>
      <p:sp>
        <p:nvSpPr>
          <p:cNvPr id="3" name="Text 0"/>
          <p:cNvSpPr/>
          <p:nvPr>
            <p:ph idx="103" type="title" hasCustomPrompt="1"/>
          </p:nvPr>
        </p:nvSpPr>
        <p:spPr>
          <a:xfrm>
            <a:off x="548640" y="658368"/>
            <a:ext cx="10241280" cy="777240"/>
          </a:xfrm>
          <a:prstGeom prst="rect">
            <a:avLst/>
          </a:prstGeom>
          <a:noFill/>
          <a:ln/>
        </p:spPr>
        <p:txBody>
          <a:bodyPr wrap="square" lIns="0" tIns="0" rIns="0" bIns="0" rtlCol="0" anchor="ctr"/>
          <a:lstStyle/>
          <a:p>
            <a:pPr algn="l" indent="0" marL="0">
              <a:buNone/>
            </a:pPr>
            <a:r>
              <a:rPr lang="en-US" sz="2900" b="1" dirty="0">
                <a:solidFill>
                  <a:srgbClr val="222222"/>
                </a:solidFill>
                <a:latin typeface="Arial" pitchFamily="34" charset="0"/>
                <a:ea typeface="Arial" pitchFamily="34" charset="-122"/>
                <a:cs typeface="Arial" pitchFamily="34" charset="-120"/>
              </a:rPr>
              <a:t>Team contributions</a:t>
            </a:r>
            <a:endParaRPr lang="en-US" sz="2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27080" cy="914400"/>
        </p:xfrm>
        <a:graphic>
          <a:graphicData uri="http://schemas.openxmlformats.org/drawingml/2006/table">
            <a:tbl>
              <a:tblPr/>
              <a:tblGrid>
                <a:gridCol w="2514600"/>
                <a:gridCol w="5394960"/>
                <a:gridCol w="301752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Member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Code / module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Presents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C02034"/>
                    </a:solidFill>
                  </a:tcPr>
                </a:tc>
              </a:tr>
              <a:tr h="77724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Duong Hoang Hai</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Dump collection, infobox mappings, Vietnamese value parsers, OWL 2 RL reasoner, SPARQL rules, SHACL</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Part 1: Introduction</a:t>
                      </a:r>
                      <a:endParaRPr lang="en-US" sz="1400" dirty="0">
                        <a:latin typeface="Calibri" charset="0"/>
                        <a:ea typeface="Calibri" charset="0"/>
                        <a:cs typeface="Calibri" charset="0"/>
                      </a:endParaRPr>
                    </a:p>
                    <a:p>
                      <a:pPr indent="0" marL="0">
                        <a:buNone/>
                      </a:pPr>
                      <a:r>
                        <a:rPr lang="en-US" sz="1400" dirty="0">
                          <a:solidFill>
                            <a:srgbClr val="222222"/>
                          </a:solidFill>
                          <a:latin typeface="Calibri" pitchFamily="34" charset="0"/>
                          <a:ea typeface="Calibri" pitchFamily="34" charset="-122"/>
                          <a:cs typeface="Calibri" pitchFamily="34" charset="-120"/>
                        </a:rPr>
                        <a:t>Part 3: Extraction and reasoning</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7724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Nguyen Thi Mai Anh</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Ontology vidbo, competency questions, HermiT verification, Protégé and web demo</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Part 2: Ontology design</a:t>
                      </a:r>
                      <a:endParaRPr lang="en-US" sz="1400" dirty="0">
                        <a:latin typeface="Calibri" charset="0"/>
                        <a:ea typeface="Calibri" charset="0"/>
                        <a:cs typeface="Calibri" charset="0"/>
                      </a:endParaRPr>
                    </a:p>
                    <a:p>
                      <a:pPr indent="0" marL="0">
                        <a:buNone/>
                      </a:pPr>
                      <a:r>
                        <a:rPr lang="en-US" sz="1400" dirty="0">
                          <a:solidFill>
                            <a:srgbClr val="222222"/>
                          </a:solidFill>
                          <a:latin typeface="Calibri" pitchFamily="34" charset="0"/>
                          <a:ea typeface="Calibri" pitchFamily="34" charset="-122"/>
                          <a:cs typeface="Calibri" pitchFamily="34" charset="-120"/>
                        </a:rPr>
                        <a:t>Live demo</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r h="77724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Le Phu Tai</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DBpedia / Wikidata linking, Silk-style matcher and gold-set evaluation, Fuseki endpoint, web UI, CLI</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Part 4: Linking and endpoint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77240">
                <a:tc>
                  <a:txBody>
                    <a:bodyPr/>
                    <a:lstStyle/>
                    <a:p>
                      <a:pPr indent="0" marL="0">
                        <a:buNone/>
                      </a:pPr>
                      <a:r>
                        <a:rPr lang="en-US" sz="1400" b="1" dirty="0">
                          <a:solidFill>
                            <a:srgbClr val="C02034"/>
                          </a:solidFill>
                          <a:latin typeface="Calibri" pitchFamily="34" charset="0"/>
                          <a:ea typeface="Calibri" pitchFamily="34" charset="-122"/>
                          <a:cs typeface="Calibri" pitchFamily="34" charset="-120"/>
                        </a:rPr>
                        <a:t>Le Van Luan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Competency-question runner, evaluation of results and data quality</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Part 5: Evaluation and conclusion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4F4F4"/>
                    </a:solidFill>
                  </a:tcPr>
                </a:tc>
              </a:tr>
            </a:tbl>
          </a:graphicData>
        </a:graphic>
      </p:graphicFrame>
      <p:sp>
        <p:nvSpPr>
          <p:cNvPr id="6" name="Text 2"/>
          <p:cNvSpPr txBox="1"/>
          <p:nvPr/>
        </p:nvSpPr>
        <p:spPr>
          <a:xfrm>
            <a:off x="640080" y="5669280"/>
            <a:ext cx="10927080" cy="365760"/>
          </a:xfrm>
          <a:prstGeom prst="rect">
            <a:avLst/>
          </a:prstGeom>
          <a:noFill/>
          <a:ln/>
        </p:spPr>
        <p:txBody>
          <a:bodyPr wrap="square" lIns="0" tIns="0" rIns="0" bIns="0" rtlCol="0" anchor="t"/>
          <a:lstStyle/>
          <a:p>
            <a:pPr indent="0" marL="0">
              <a:buNone/>
            </a:pPr>
            <a:r>
              <a:rPr lang="en-US" sz="1400" dirty="0">
                <a:solidFill>
                  <a:schemeClr val="tx2"/>
                </a:solidFill>
              </a:rPr>
              <a:t>All four members contributed equally.</a:t>
            </a:r>
            <a:endParaRPr lang="en-US" sz="14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1097280" y="2148840"/>
            <a:ext cx="9601200" cy="1097280"/>
          </a:xfrm>
          <a:prstGeom prst="rect">
            <a:avLst/>
          </a:prstGeom>
          <a:noFill/>
          <a:ln/>
        </p:spPr>
        <p:txBody>
          <a:bodyPr wrap="square" lIns="0" tIns="0" rIns="0" bIns="0" rtlCol="0" anchor="ctr"/>
          <a:lstStyle/>
          <a:p>
            <a:pPr indent="0" marL="0">
              <a:buNone/>
            </a:pPr>
            <a:r>
              <a:rPr lang="en-US" sz="5400" b="1" dirty="0">
                <a:solidFill>
                  <a:schemeClr val="bg1"/>
                </a:solidFill>
                <a:latin typeface="+mj-lt" pitchFamily="34" charset="0"/>
                <a:ea typeface="+mj-lt" pitchFamily="34" charset="-122"/>
                <a:cs typeface="+mj-lt" pitchFamily="34" charset="-120"/>
              </a:rPr>
              <a:t>Thank you</a:t>
            </a:r>
            <a:endParaRPr lang="en-US" sz="5400" dirty="0"/>
          </a:p>
        </p:txBody>
      </p:sp>
      <p:sp>
        <p:nvSpPr>
          <p:cNvPr id="3" name="Text 1"/>
          <p:cNvSpPr txBox="1"/>
          <p:nvPr/>
        </p:nvSpPr>
        <p:spPr>
          <a:xfrm>
            <a:off x="1115568" y="3383280"/>
            <a:ext cx="9144000" cy="640080"/>
          </a:xfrm>
          <a:prstGeom prst="rect">
            <a:avLst/>
          </a:prstGeom>
          <a:noFill/>
          <a:ln/>
        </p:spPr>
        <p:txBody>
          <a:bodyPr wrap="square" lIns="0" tIns="0" rIns="0" bIns="0" rtlCol="0" anchor="ctr"/>
          <a:lstStyle/>
          <a:p>
            <a:pPr indent="0" marL="0">
              <a:buNone/>
            </a:pPr>
            <a:r>
              <a:rPr lang="en-US" sz="2400" dirty="0">
                <a:solidFill>
                  <a:srgbClr val="FCE4E8"/>
                </a:solidFill>
                <a:latin typeface="+mj-lt" pitchFamily="34" charset="0"/>
                <a:ea typeface="+mj-lt" pitchFamily="34" charset="-122"/>
                <a:cs typeface="+mj-lt" pitchFamily="34" charset="-120"/>
              </a:rPr>
              <a:t>Questions?</a:t>
            </a:r>
            <a:endParaRPr lang="en-US" sz="2400" dirty="0"/>
          </a:p>
        </p:txBody>
      </p:sp>
      <p:sp>
        <p:nvSpPr>
          <p:cNvPr id="4" name="Text 2"/>
          <p:cNvSpPr txBox="1"/>
          <p:nvPr/>
        </p:nvSpPr>
        <p:spPr>
          <a:xfrm>
            <a:off x="1115568" y="4206240"/>
            <a:ext cx="9601200" cy="457200"/>
          </a:xfrm>
          <a:prstGeom prst="rect">
            <a:avLst/>
          </a:prstGeom>
          <a:noFill/>
          <a:ln/>
        </p:spPr>
        <p:txBody>
          <a:bodyPr wrap="square" lIns="0" tIns="0" rIns="0" bIns="0" rtlCol="0" anchor="ctr"/>
          <a:lstStyle/>
          <a:p>
            <a:pPr indent="0" marL="0">
              <a:buNone/>
            </a:pPr>
            <a:r>
              <a:rPr lang="en-US" sz="1400" i="1" dirty="0">
                <a:solidFill>
                  <a:srgbClr val="F4C3CB"/>
                </a:solidFill>
              </a:rPr>
              <a:t>ViDBpedia: An Inference-Rich Vietnamese DBpedia</a:t>
            </a:r>
            <a:endParaRPr lang="en-US" sz="1400" dirty="0"/>
          </a:p>
        </p:txBody>
      </p:sp>
      <p:sp>
        <p:nvSpPr>
          <p:cNvPr id="5" name="Text 3"/>
          <p:cNvSpPr txBox="1"/>
          <p:nvPr/>
        </p:nvSpPr>
        <p:spPr>
          <a:xfrm>
            <a:off x="1115568" y="4617720"/>
            <a:ext cx="9601200" cy="365760"/>
          </a:xfrm>
          <a:prstGeom prst="rect">
            <a:avLst/>
          </a:prstGeom>
          <a:noFill/>
          <a:ln/>
        </p:spPr>
        <p:txBody>
          <a:bodyPr wrap="square" lIns="0" tIns="0" rIns="0" bIns="0" rtlCol="0" anchor="ctr"/>
          <a:lstStyle/>
          <a:p>
            <a:pPr indent="0" marL="0">
              <a:buNone/>
            </a:pPr>
            <a:r>
              <a:rPr lang="en-US" sz="1300" dirty="0">
                <a:solidFill>
                  <a:srgbClr val="F4C3CB"/>
                </a:solidFill>
              </a:rPr>
              <a:t>SoICT, HUST  ·  Semantic Web course project</a:t>
            </a:r>
            <a:endParaRPr lang="en-US" sz="1300" dirty="0"/>
          </a:p>
        </p:txBody>
      </p:sp>
      <p:sp>
        <p:nvSpPr>
          <p:cNvPr id="25" name="Slide Number Placeholder 0"/>
          <p:cNvSpPr>
            <a:spLocks noGrp="1"/>
          </p:cNvSpPr>
          <p:nvPr>
            <p:ph type="sldNum" sz="quarter" idx="4294967295"/>
          </p:nvPr>
        </p:nvSpPr>
        <p:spPr>
          <a:xfrm>
            <a:off x="11292840" y="6419088"/>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ViDBpedia HUST">
  <a:themeElements>
    <a:clrScheme name="ViDBpedia HUST">
      <a:dk1>
        <a:srgbClr val="222222"/>
      </a:dk1>
      <a:lt1>
        <a:srgbClr val="FFFFFF"/>
      </a:lt1>
      <a:dk2>
        <a:srgbClr val="6B6B6B"/>
      </a:dk2>
      <a:lt2>
        <a:srgbClr val="F7F8FA"/>
      </a:lt2>
      <a:accent1>
        <a:srgbClr val="C02034"/>
      </a:accent1>
      <a:accent2>
        <a:srgbClr val="8E1626"/>
      </a:accent2>
      <a:accent3>
        <a:srgbClr val="FBE9EC"/>
      </a:accent3>
      <a:accent4>
        <a:srgbClr val="E4E7EB"/>
      </a:accent4>
      <a:accent5>
        <a:srgbClr val="9A9A9A"/>
      </a:accent5>
      <a:accent6>
        <a:srgbClr val="2E7D46"/>
      </a:accent6>
      <a:hlink>
        <a:srgbClr val="C02034"/>
      </a:hlink>
      <a:folHlink>
        <a:srgbClr val="8E1626"/>
      </a:folHlink>
    </a:clrScheme>
    <a:fontScheme name="ViDBpedia HU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SoICT, 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ViDBpedia: an inference-rich Vietnamese DBpedia</dc:title>
  <dc:subject>PptxGenJS Presentation</dc:subject>
  <dc:creator>Le Phu Tai, Nguyen Thi Mai Anh, Duong Hoang Hai, Le Van Luan</dc:creator>
  <cp:lastModifiedBy>Le Phu Tai, Nguyen Thi Mai Anh, Duong Hoang Hai, Le Van Luan</cp:lastModifiedBy>
  <cp:revision>1</cp:revision>
  <dcterms:created xsi:type="dcterms:W3CDTF">2026-10-09T20:45:22Z</dcterms:created>
  <dcterms:modified xsi:type="dcterms:W3CDTF">2026-10-09T20:45:22Z</dcterms:modified>
</cp:coreProperties>
</file>